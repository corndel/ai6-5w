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We already saw the wall.</a:t>
            </a:r>
          </a:p>
          <a:p>
            <a:r>
              <a:t>- Now we learn how to respond when the wall becomes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Orchestration doesn’t magically fix a bottleneck.</a:t>
            </a:r>
          </a:p>
          <a:p>
            <a:r>
              <a:t>- It gives you leverage and visibility.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Today we do “first action”, not “perfect fix”.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We’ll practise this like triage.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This is boring-but-important engineering.</a:t>
            </a:r>
          </a:p>
          <a:p>
            <a:r>
              <a:t>- “Fail fast” is a scaling strategy.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This is the classic “we’re popular now” incident.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This is “horizontal scaling” in serverless terms: more concurrent workers.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Keep it short. Don’t drift into billing/SLOs.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Don’t teach Kubernetes.</a:t>
            </a:r>
          </a:p>
          <a:p>
            <a:r>
              <a:t>- Teach “you already know the shapes”.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This is directly transferable to workplace narratives.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AI6 Unit 5.W — Scale or Fail (Afternoon)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Scaling is the job.</a:t>
            </a:r>
          </a:p>
          <a:p>
            <a:pPr>
              <a:defRPr sz="1800"/>
            </a:pPr>
            <a:r>
              <a:t>Orchestration is the mechanism.</a:t>
            </a:r>
          </a:p>
          <a:p>
            <a:pPr>
              <a:defRPr sz="1800"/>
            </a:pPr>
            <a:r>
              <a:t>Root Cause Analysis is the safety net.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Orchestration: what it does for 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Orchestration is how we:</a:t>
            </a:r>
          </a:p>
          <a:p>
            <a:pPr>
              <a:defRPr sz="1800"/>
            </a:pPr>
            <a:r>
              <a:t>split work into steps</a:t>
            </a:r>
          </a:p>
          <a:p>
            <a:pPr>
              <a:defRPr sz="1800"/>
            </a:pPr>
            <a:r>
              <a:t>apply retries/backoff</a:t>
            </a:r>
          </a:p>
          <a:p>
            <a:pPr>
              <a:defRPr sz="1800"/>
            </a:pPr>
            <a:r>
              <a:t>apply timeouts</a:t>
            </a:r>
          </a:p>
          <a:p>
            <a:pPr>
              <a:defRPr sz="1800"/>
            </a:pPr>
            <a:r>
              <a:t>see *where time is spent*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RCA promise (low stress)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RCA is not “being clever”.</a:t>
            </a:r>
          </a:p>
          <a:p>
            <a:pPr>
              <a:defRPr sz="1800"/>
            </a:pPr>
            <a:r>
              <a:t>RCA is:</a:t>
            </a:r>
          </a:p>
          <a:p>
            <a:pPr>
              <a:defRPr sz="1800"/>
            </a:pPr>
            <a:r>
              <a:t>1) Get evidence</a:t>
            </a:r>
          </a:p>
          <a:p>
            <a:pPr>
              <a:defRPr sz="1800"/>
            </a:pPr>
            <a:r>
              <a:t>2) Classify the bottleneck</a:t>
            </a:r>
          </a:p>
          <a:p>
            <a:pPr>
              <a:defRPr sz="1800"/>
            </a:pPr>
            <a:r>
              <a:t>3) Pick the first safe 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4-leaf “Scaling RCA”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When a pipeline doesn’t scale, it is usually:</a:t>
            </a:r>
          </a:p>
          <a:p>
            <a:pPr>
              <a:defRPr sz="1800"/>
            </a:pPr>
            <a:r>
              <a:t>1) Throttled (hard limit / concurrency / quota)</a:t>
            </a:r>
          </a:p>
          <a:p>
            <a:pPr>
              <a:defRPr sz="1800"/>
            </a:pPr>
            <a:r>
              <a:t>2) Exhausted (CPU/memory per request)</a:t>
            </a:r>
          </a:p>
          <a:p>
            <a:pPr>
              <a:defRPr sz="1800"/>
            </a:pPr>
            <a:r>
              <a:t>3) Timed out (slow dependency / queue/backlog)</a:t>
            </a:r>
          </a:p>
          <a:p>
            <a:pPr>
              <a:defRPr sz="1800"/>
            </a:pPr>
            <a:r>
              <a:t>4) Bad input (payload/schema)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Controlled failure #1 (Bad input)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Run:</a:t>
            </a:r>
          </a:p>
          <a:p>
            <a:pPr>
              <a:defRPr sz="1800"/>
            </a:pPr>
            <a:r>
              <a:t>`./scripts/05_trigger_bad_input.sh`</a:t>
            </a:r>
          </a:p>
          <a:p>
            <a:pPr>
              <a:defRPr sz="1800"/>
            </a:pPr>
            <a:r>
              <a:t>Learners check:</a:t>
            </a:r>
          </a:p>
          <a:p>
            <a:pPr>
              <a:defRPr sz="1800"/>
            </a:pPr>
            <a:r>
              <a:t>Step Functions execution error message:</a:t>
            </a:r>
          </a:p>
          <a:p>
            <a:pPr>
              <a:defRPr sz="1800"/>
            </a:pPr>
            <a:r>
              <a:t>`PayloadTooLarge`</a:t>
            </a:r>
          </a:p>
          <a:p>
            <a:pPr>
              <a:defRPr sz="1800"/>
            </a:pPr>
            <a:r>
              <a:t>Classification:</a:t>
            </a:r>
          </a:p>
          <a:p>
            <a:pPr>
              <a:defRPr sz="1800"/>
            </a:pPr>
            <a:r>
              <a:t>Bad input</a:t>
            </a:r>
          </a:p>
          <a:p>
            <a:pPr>
              <a:defRPr sz="1800"/>
            </a:pPr>
            <a:r>
              <a:t>First action:</a:t>
            </a:r>
          </a:p>
          <a:p>
            <a:pPr>
              <a:defRPr sz="1800"/>
            </a:pPr>
            <a:r>
              <a:t>Add validation / reject early / cap payloads (already in preprocess)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Controlled failure #2 (Throttled under load)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Reminder:</a:t>
            </a:r>
          </a:p>
          <a:p>
            <a:pPr>
              <a:defRPr sz="1800"/>
            </a:pPr>
            <a:r>
              <a:t>Embed Lambda has reserved concurrency = 2 (intentional)</a:t>
            </a:r>
          </a:p>
          <a:p>
            <a:pPr>
              <a:defRPr sz="1800"/>
            </a:pPr>
            <a:r>
              <a:t>Evidence sources:</a:t>
            </a:r>
          </a:p>
          <a:p>
            <a:pPr>
              <a:defRPr sz="1800"/>
            </a:pPr>
            <a:r>
              <a:t>CloudWatch dashboard: Embed Throttles</a:t>
            </a:r>
          </a:p>
          <a:p>
            <a:pPr>
              <a:defRPr sz="1800"/>
            </a:pPr>
            <a:r>
              <a:t>Step Functions failures</a:t>
            </a:r>
          </a:p>
          <a:p>
            <a:pPr>
              <a:defRPr sz="1800"/>
            </a:pPr>
            <a:r>
              <a:t>Execution event history shows TooManyRequests</a:t>
            </a:r>
          </a:p>
          <a:p>
            <a:pPr>
              <a:defRPr sz="1800"/>
            </a:pPr>
            <a:r>
              <a:t>Classification:</a:t>
            </a:r>
          </a:p>
          <a:p>
            <a:pPr>
              <a:defRPr sz="1800"/>
            </a:pPr>
            <a:r>
              <a:t>Throttled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2 (groups of 3): Incident report in 6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Give each group this template:</a:t>
            </a:r>
          </a:p>
          <a:p>
            <a:pPr>
              <a:defRPr sz="1800"/>
            </a:pPr>
            <a:r>
              <a:t>What happened? (one sentence)</a:t>
            </a:r>
          </a:p>
          <a:p>
            <a:pPr>
              <a:defRPr sz="1800"/>
            </a:pPr>
            <a:r>
              <a:t>Evidence: (dashboard + execution + log)</a:t>
            </a:r>
          </a:p>
          <a:p>
            <a:pPr>
              <a:defRPr sz="1800"/>
            </a:pPr>
            <a:r>
              <a:t>Classification: (one of the 4 leaves)</a:t>
            </a:r>
          </a:p>
          <a:p>
            <a:pPr>
              <a:defRPr sz="1800"/>
            </a:pPr>
            <a:r>
              <a:t>First action: (one safe change + why)</a:t>
            </a:r>
          </a:p>
          <a:p>
            <a:pPr>
              <a:defRPr sz="1800"/>
            </a:pPr>
            <a:r>
              <a:t>Coach note:</a:t>
            </a:r>
          </a:p>
          <a:p>
            <a:pPr>
              <a:defRPr sz="1800"/>
            </a:pPr>
            <a:r>
              <a:t>Don’t allow “we just increase everything”.</a:t>
            </a:r>
          </a:p>
          <a:p>
            <a:pPr>
              <a:defRPr sz="1800"/>
            </a:pPr>
            <a:r>
              <a:t>Make them tie evidence to action.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fix (hands-on): scale the bottleneck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Run:</a:t>
            </a:r>
          </a:p>
          <a:p>
            <a:pPr>
              <a:defRPr sz="1800"/>
            </a:pPr>
            <a:r>
              <a:t>`NEW_RC=10 ./scripts/04_scale_up_embed_concurrency.sh`</a:t>
            </a:r>
          </a:p>
          <a:p>
            <a:pPr>
              <a:defRPr sz="1800"/>
            </a:pPr>
            <a:r>
              <a:t>Then run the burst again:</a:t>
            </a:r>
          </a:p>
          <a:p>
            <a:pPr>
              <a:defRPr sz="1800"/>
            </a:pPr>
            <a:r>
              <a:t>`N=40 ./scripts/03_burst_load.sh`</a:t>
            </a:r>
          </a:p>
          <a:p>
            <a:pPr>
              <a:defRPr sz="1800"/>
            </a:pPr>
            <a:r>
              <a:t>Expected change:</a:t>
            </a:r>
          </a:p>
          <a:p>
            <a:pPr>
              <a:defRPr sz="1800"/>
            </a:pPr>
            <a:r>
              <a:t>Throttles reduce</a:t>
            </a:r>
          </a:p>
          <a:p>
            <a:pPr>
              <a:defRPr sz="1800"/>
            </a:pPr>
            <a:r>
              <a:t>More executions succeed</a:t>
            </a:r>
          </a:p>
          <a:p>
            <a:pPr>
              <a:defRPr sz="1800"/>
            </a:pPr>
            <a:r>
              <a:t>“Wall” moves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matters: scaling trade-offs (one minute)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Scaling knobs are trade-offs:</a:t>
            </a:r>
          </a:p>
          <a:p>
            <a:pPr>
              <a:defRPr sz="1800"/>
            </a:pPr>
            <a:r>
              <a:t>More concurrency = more throughput</a:t>
            </a:r>
          </a:p>
          <a:p>
            <a:pPr>
              <a:defRPr sz="1800"/>
            </a:pPr>
            <a:r>
              <a:t>But you can still hit:</a:t>
            </a:r>
          </a:p>
          <a:p>
            <a:pPr>
              <a:defRPr sz="1800"/>
            </a:pPr>
            <a:r>
              <a:t>account limits</a:t>
            </a:r>
          </a:p>
          <a:p>
            <a:pPr>
              <a:defRPr sz="1800"/>
            </a:pPr>
            <a:r>
              <a:t>cold starts</a:t>
            </a:r>
          </a:p>
          <a:p>
            <a:pPr>
              <a:defRPr sz="1800"/>
            </a:pPr>
            <a:r>
              <a:t>downstream bottlenecks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transfer: Kubernetes mapping (10 minutes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What you did today maps to Kubernetes:</a:t>
            </a:r>
          </a:p>
          <a:p>
            <a:pPr>
              <a:defRPr sz="1800"/>
            </a:pPr>
            <a:r>
              <a:t>Lambda concurrency ↔ replica count / HPA target</a:t>
            </a:r>
          </a:p>
          <a:p>
            <a:pPr>
              <a:defRPr sz="1800"/>
            </a:pPr>
            <a:r>
              <a:t>Lambda memory ↔ requests/limits</a:t>
            </a:r>
          </a:p>
          <a:p>
            <a:pPr>
              <a:defRPr sz="1800"/>
            </a:pPr>
            <a:r>
              <a:t>Throttles ↔ rate limits / autoscaler lag / quota</a:t>
            </a:r>
          </a:p>
          <a:p>
            <a:pPr>
              <a:defRPr sz="1800"/>
            </a:pPr>
            <a:r>
              <a:t>Step Functions graph ↔ DAG view (Argo/Airflow)</a:t>
            </a:r>
          </a:p>
          <a:p>
            <a:pPr>
              <a:defRPr sz="1800"/>
            </a:pPr>
            <a:r>
              <a:t>CloudWatch metrics ↔ Prometheus/Grafana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Close: what to screenshot for portfolio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Learners capture 3 pieces of evidence:</a:t>
            </a:r>
          </a:p>
          <a:p>
            <a:pPr>
              <a:defRPr sz="1800"/>
            </a:pPr>
            <a:r>
              <a:t>1) A dashboard showing throttles *before* and *after*</a:t>
            </a:r>
          </a:p>
          <a:p>
            <a:pPr>
              <a:defRPr sz="1800"/>
            </a:pPr>
            <a:r>
              <a:t>2) A Step Functions execution showing failure (red) and success (green)</a:t>
            </a:r>
          </a:p>
          <a:p>
            <a:pPr>
              <a:defRPr sz="1800"/>
            </a:pPr>
            <a:r>
              <a:t>3) One sentence explaining “what we scaled” and why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Cleanup reminder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Run:</a:t>
            </a:r>
          </a:p>
          <a:p>
            <a:pPr>
              <a:defRPr sz="1800"/>
            </a:pPr>
            <a:r>
              <a:t>`./scripts/99_cleanup.sh`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