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44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Hoffman" userId="c89afae9-2ab1-4454-9d15-124c09a77240" providerId="ADAL" clId="{C92867C0-20CC-4CF3-B09C-9485EE8A71FC}"/>
    <pc:docChg chg="custSel modSld">
      <pc:chgData name="Mike Hoffman" userId="c89afae9-2ab1-4454-9d15-124c09a77240" providerId="ADAL" clId="{C92867C0-20CC-4CF3-B09C-9485EE8A71FC}" dt="2026-02-09T12:37:27.014" v="300" actId="20577"/>
      <pc:docMkLst>
        <pc:docMk/>
      </pc:docMkLst>
      <pc:sldChg chg="modSp mod">
        <pc:chgData name="Mike Hoffman" userId="c89afae9-2ab1-4454-9d15-124c09a77240" providerId="ADAL" clId="{C92867C0-20CC-4CF3-B09C-9485EE8A71FC}" dt="2026-02-09T12:34:12.054" v="1" actId="255"/>
        <pc:sldMkLst>
          <pc:docMk/>
          <pc:sldMk cId="0" sldId="257"/>
        </pc:sldMkLst>
        <pc:spChg chg="mod">
          <ac:chgData name="Mike Hoffman" userId="c89afae9-2ab1-4454-9d15-124c09a77240" providerId="ADAL" clId="{C92867C0-20CC-4CF3-B09C-9485EE8A71FC}" dt="2026-02-09T12:34:12.054" v="1" actId="255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4:23.063" v="22" actId="15"/>
        <pc:sldMkLst>
          <pc:docMk/>
          <pc:sldMk cId="0" sldId="258"/>
        </pc:sldMkLst>
        <pc:spChg chg="mod">
          <ac:chgData name="Mike Hoffman" userId="c89afae9-2ab1-4454-9d15-124c09a77240" providerId="ADAL" clId="{C92867C0-20CC-4CF3-B09C-9485EE8A71FC}" dt="2026-02-09T12:34:23.063" v="22" actId="1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4:31.246" v="23" actId="15"/>
        <pc:sldMkLst>
          <pc:docMk/>
          <pc:sldMk cId="0" sldId="259"/>
        </pc:sldMkLst>
        <pc:spChg chg="mod">
          <ac:chgData name="Mike Hoffman" userId="c89afae9-2ab1-4454-9d15-124c09a77240" providerId="ADAL" clId="{C92867C0-20CC-4CF3-B09C-9485EE8A71FC}" dt="2026-02-09T12:34:31.246" v="23" actId="1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4:49.526" v="30" actId="20577"/>
        <pc:sldMkLst>
          <pc:docMk/>
          <pc:sldMk cId="0" sldId="260"/>
        </pc:sldMkLst>
        <pc:spChg chg="mod">
          <ac:chgData name="Mike Hoffman" userId="c89afae9-2ab1-4454-9d15-124c09a77240" providerId="ADAL" clId="{C92867C0-20CC-4CF3-B09C-9485EE8A71FC}" dt="2026-02-09T12:34:49.526" v="3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5:03.952" v="35" actId="20577"/>
        <pc:sldMkLst>
          <pc:docMk/>
          <pc:sldMk cId="0" sldId="261"/>
        </pc:sldMkLst>
        <pc:spChg chg="mod">
          <ac:chgData name="Mike Hoffman" userId="c89afae9-2ab1-4454-9d15-124c09a77240" providerId="ADAL" clId="{C92867C0-20CC-4CF3-B09C-9485EE8A71FC}" dt="2026-02-09T12:35:03.952" v="35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5:40.732" v="107" actId="20577"/>
        <pc:sldMkLst>
          <pc:docMk/>
          <pc:sldMk cId="0" sldId="262"/>
        </pc:sldMkLst>
        <pc:spChg chg="mod">
          <ac:chgData name="Mike Hoffman" userId="c89afae9-2ab1-4454-9d15-124c09a77240" providerId="ADAL" clId="{C92867C0-20CC-4CF3-B09C-9485EE8A71FC}" dt="2026-02-09T12:35:13.638" v="41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35:40.732" v="107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5:56.684" v="112" actId="15"/>
        <pc:sldMkLst>
          <pc:docMk/>
          <pc:sldMk cId="0" sldId="263"/>
        </pc:sldMkLst>
        <pc:spChg chg="mod">
          <ac:chgData name="Mike Hoffman" userId="c89afae9-2ab1-4454-9d15-124c09a77240" providerId="ADAL" clId="{C92867C0-20CC-4CF3-B09C-9485EE8A71FC}" dt="2026-02-09T12:35:56.684" v="112" actId="1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6:11.408" v="126" actId="20577"/>
        <pc:sldMkLst>
          <pc:docMk/>
          <pc:sldMk cId="0" sldId="264"/>
        </pc:sldMkLst>
        <pc:spChg chg="mod">
          <ac:chgData name="Mike Hoffman" userId="c89afae9-2ab1-4454-9d15-124c09a77240" providerId="ADAL" clId="{C92867C0-20CC-4CF3-B09C-9485EE8A71FC}" dt="2026-02-09T12:36:11.408" v="126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6:19.088" v="135" actId="20577"/>
        <pc:sldMkLst>
          <pc:docMk/>
          <pc:sldMk cId="0" sldId="265"/>
        </pc:sldMkLst>
        <pc:spChg chg="mod">
          <ac:chgData name="Mike Hoffman" userId="c89afae9-2ab1-4454-9d15-124c09a77240" providerId="ADAL" clId="{C92867C0-20CC-4CF3-B09C-9485EE8A71FC}" dt="2026-02-09T12:36:19.088" v="135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6:44.301" v="158" actId="20577"/>
        <pc:sldMkLst>
          <pc:docMk/>
          <pc:sldMk cId="0" sldId="266"/>
        </pc:sldMkLst>
        <pc:spChg chg="mod">
          <ac:chgData name="Mike Hoffman" userId="c89afae9-2ab1-4454-9d15-124c09a77240" providerId="ADAL" clId="{C92867C0-20CC-4CF3-B09C-9485EE8A71FC}" dt="2026-02-09T12:36:41.271" v="152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36:44.301" v="15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7:27.014" v="300" actId="20577"/>
        <pc:sldMkLst>
          <pc:docMk/>
          <pc:sldMk cId="0" sldId="267"/>
        </pc:sldMkLst>
        <pc:spChg chg="mod">
          <ac:chgData name="Mike Hoffman" userId="c89afae9-2ab1-4454-9d15-124c09a77240" providerId="ADAL" clId="{C92867C0-20CC-4CF3-B09C-9485EE8A71FC}" dt="2026-02-09T12:37:27.014" v="300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52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We already saw the wall.</a:t>
            </a:r>
          </a:p>
          <a:p>
            <a:r>
              <a:t>- Now we learn how to respond when the wall becomes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Orchestration doesn’t magically fix a bottleneck.</a:t>
            </a:r>
          </a:p>
          <a:p>
            <a:r>
              <a:t>- It gives you leverage and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Today we do “first action”, not “perfect fix”.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We’ll practise this like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is boring-but-important engineering.</a:t>
            </a:r>
          </a:p>
          <a:p>
            <a:r>
              <a:t>- “Fail fast” is a scaling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is the classic “we’re popular now”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is “horizontal scaling” in serverless terms: more concurrent workers.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Keep it short. Don’t drift into billing/SLOs.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Don’t teach Kubernetes.</a:t>
            </a:r>
          </a:p>
          <a:p>
            <a:r>
              <a:t>- Teach “you already know the shapes”.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is directly transferable to workplace narratives.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AI6 Unit 5.W — Scale or Fail (Afternoon)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Scaling is the job.</a:t>
            </a:r>
          </a:p>
          <a:p>
            <a:pPr>
              <a:defRPr sz="1800"/>
            </a:pPr>
            <a:r>
              <a:t>Orchestration is the mechanism.</a:t>
            </a:r>
          </a:p>
          <a:p>
            <a:pPr>
              <a:defRPr sz="1800"/>
            </a:pPr>
            <a:r>
              <a:t>Root Cause Analysis is the safety net.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Orchestration: what it does for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Orchestration is how we:</a:t>
            </a:r>
          </a:p>
          <a:p>
            <a:pPr lvl="1">
              <a:defRPr sz="1800"/>
            </a:pPr>
            <a:r>
              <a:rPr sz="2400" dirty="0"/>
              <a:t>split work into steps</a:t>
            </a:r>
          </a:p>
          <a:p>
            <a:pPr lvl="1">
              <a:defRPr sz="1800"/>
            </a:pPr>
            <a:r>
              <a:rPr sz="2400" dirty="0"/>
              <a:t>apply retries/backoff</a:t>
            </a:r>
          </a:p>
          <a:p>
            <a:pPr lvl="1">
              <a:defRPr sz="1800"/>
            </a:pPr>
            <a:r>
              <a:rPr sz="2400" dirty="0"/>
              <a:t>apply timeouts</a:t>
            </a:r>
          </a:p>
          <a:p>
            <a:pPr lvl="1">
              <a:defRPr sz="1800"/>
            </a:pPr>
            <a:r>
              <a:rPr sz="2400" dirty="0"/>
              <a:t>see *where time is spent*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RCA promise (low stress)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GB" dirty="0"/>
              <a:t>Root Cause Analysis</a:t>
            </a:r>
            <a:r>
              <a:rPr dirty="0"/>
              <a:t> is not “being clever”</a:t>
            </a:r>
          </a:p>
          <a:p>
            <a:pPr>
              <a:defRPr sz="1800"/>
            </a:pPr>
            <a:r>
              <a:rPr dirty="0"/>
              <a:t>RCA is:</a:t>
            </a:r>
          </a:p>
          <a:p>
            <a:pPr lvl="1">
              <a:defRPr sz="1800"/>
            </a:pPr>
            <a:r>
              <a:rPr dirty="0"/>
              <a:t>1) Get evidence</a:t>
            </a:r>
          </a:p>
          <a:p>
            <a:pPr lvl="1">
              <a:defRPr sz="1800"/>
            </a:pPr>
            <a:r>
              <a:rPr dirty="0"/>
              <a:t>2) Classify the bottleneck</a:t>
            </a:r>
          </a:p>
          <a:p>
            <a:pPr lvl="1">
              <a:defRPr sz="1800"/>
            </a:pPr>
            <a:r>
              <a:rPr dirty="0"/>
              <a:t>3) Pick the first safe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4-leaf “Scaling RCA”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When a pipeline doesn’t scale, it is usually:</a:t>
            </a:r>
          </a:p>
          <a:p>
            <a:pPr lvl="1">
              <a:defRPr sz="1800"/>
            </a:pPr>
            <a:r>
              <a:rPr dirty="0"/>
              <a:t>1) Throttled (hard limit / concurrency / quota)</a:t>
            </a:r>
          </a:p>
          <a:p>
            <a:pPr lvl="1">
              <a:defRPr sz="1800"/>
            </a:pPr>
            <a:r>
              <a:rPr dirty="0"/>
              <a:t>2) Exhausted (CPU/memory per request)</a:t>
            </a:r>
          </a:p>
          <a:p>
            <a:pPr lvl="1">
              <a:defRPr sz="1800"/>
            </a:pPr>
            <a:r>
              <a:rPr dirty="0"/>
              <a:t>3) Timed out (slow dependency / queue/backlog)</a:t>
            </a:r>
          </a:p>
          <a:p>
            <a:pPr lvl="1">
              <a:defRPr sz="1800"/>
            </a:pPr>
            <a:r>
              <a:rPr dirty="0"/>
              <a:t>4) Bad input (payload/schema)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Controlled failure #1 (Bad input)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Run:</a:t>
            </a:r>
          </a:p>
          <a:p>
            <a:pPr>
              <a:defRPr sz="1800"/>
            </a:pPr>
            <a:r>
              <a:rPr dirty="0"/>
              <a:t>`./scripts/05_trigger_bad_input.sh`</a:t>
            </a:r>
          </a:p>
          <a:p>
            <a:pPr marL="0" indent="0">
              <a:buNone/>
              <a:defRPr sz="1800"/>
            </a:pPr>
            <a:endParaRPr lang="en-GB" dirty="0"/>
          </a:p>
          <a:p>
            <a:pPr marL="0" indent="0">
              <a:buNone/>
              <a:defRPr sz="1800"/>
            </a:pPr>
            <a:r>
              <a:rPr dirty="0"/>
              <a:t>Learners check:</a:t>
            </a:r>
          </a:p>
          <a:p>
            <a:pPr>
              <a:defRPr sz="1800"/>
            </a:pPr>
            <a:r>
              <a:rPr dirty="0"/>
              <a:t>Step Functions execution error message:</a:t>
            </a:r>
          </a:p>
          <a:p>
            <a:pPr>
              <a:defRPr sz="1800"/>
            </a:pPr>
            <a:r>
              <a:rPr dirty="0"/>
              <a:t>`</a:t>
            </a:r>
            <a:r>
              <a:rPr dirty="0" err="1"/>
              <a:t>PayloadTooLarge</a:t>
            </a:r>
            <a:r>
              <a:rPr dirty="0"/>
              <a:t>`</a:t>
            </a:r>
          </a:p>
          <a:p>
            <a:pPr marL="0" indent="0">
              <a:buNone/>
              <a:defRPr sz="1800"/>
            </a:pPr>
            <a:endParaRPr lang="en-GB" dirty="0"/>
          </a:p>
          <a:p>
            <a:pPr marL="0" indent="0">
              <a:buNone/>
              <a:defRPr sz="1800"/>
            </a:pPr>
            <a:r>
              <a:rPr dirty="0"/>
              <a:t>Classification:</a:t>
            </a:r>
          </a:p>
          <a:p>
            <a:pPr>
              <a:defRPr sz="1800"/>
            </a:pPr>
            <a:r>
              <a:rPr dirty="0"/>
              <a:t>Bad input</a:t>
            </a:r>
          </a:p>
          <a:p>
            <a:pPr marL="0" indent="0">
              <a:buNone/>
              <a:defRPr sz="1800"/>
            </a:pPr>
            <a:endParaRPr lang="en-GB" dirty="0"/>
          </a:p>
          <a:p>
            <a:pPr marL="0" indent="0">
              <a:buNone/>
              <a:defRPr sz="1800"/>
            </a:pPr>
            <a:r>
              <a:rPr dirty="0"/>
              <a:t>First action:</a:t>
            </a:r>
          </a:p>
          <a:p>
            <a:pPr>
              <a:defRPr sz="1800"/>
            </a:pPr>
            <a:r>
              <a:rPr dirty="0"/>
              <a:t>Add validation / reject early / cap payloads (already in preprocess)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Controlled failure #2 (Throttled under load)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Reminder:</a:t>
            </a:r>
          </a:p>
          <a:p>
            <a:pPr>
              <a:defRPr sz="1800"/>
            </a:pPr>
            <a:r>
              <a:rPr dirty="0"/>
              <a:t>Embed Lambda has reserved concurrency = 2 (intentional)</a:t>
            </a:r>
            <a:endParaRPr lang="en-GB" dirty="0"/>
          </a:p>
          <a:p>
            <a:pPr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Evidence sources:</a:t>
            </a:r>
          </a:p>
          <a:p>
            <a:pPr>
              <a:defRPr sz="1800"/>
            </a:pPr>
            <a:r>
              <a:rPr dirty="0"/>
              <a:t>CloudWatch dashboard: Embed Throttles</a:t>
            </a:r>
          </a:p>
          <a:p>
            <a:pPr>
              <a:defRPr sz="1800"/>
            </a:pPr>
            <a:r>
              <a:rPr dirty="0"/>
              <a:t>Step Functions failures</a:t>
            </a:r>
          </a:p>
          <a:p>
            <a:pPr>
              <a:defRPr sz="1800"/>
            </a:pPr>
            <a:r>
              <a:rPr dirty="0"/>
              <a:t>Execution event history shows </a:t>
            </a:r>
            <a:r>
              <a:rPr dirty="0" err="1"/>
              <a:t>TooManyRequests</a:t>
            </a:r>
            <a:endParaRPr dirty="0"/>
          </a:p>
          <a:p>
            <a:pPr marL="0" indent="0">
              <a:buNone/>
              <a:defRPr sz="1800"/>
            </a:pPr>
            <a:endParaRPr lang="en-GB" dirty="0"/>
          </a:p>
          <a:p>
            <a:pPr marL="0" indent="0">
              <a:buNone/>
              <a:defRPr sz="1800"/>
            </a:pPr>
            <a:r>
              <a:rPr dirty="0"/>
              <a:t>Classification:</a:t>
            </a:r>
          </a:p>
          <a:p>
            <a:pPr>
              <a:defRPr sz="1800"/>
            </a:pPr>
            <a:r>
              <a:rPr dirty="0"/>
              <a:t>Throttled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Activity 2: Incident report in 6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GB" dirty="0"/>
              <a:t>Suggest working in groups of 3. </a:t>
            </a:r>
            <a:endParaRPr dirty="0"/>
          </a:p>
          <a:p>
            <a:pPr lvl="1">
              <a:defRPr sz="1800"/>
            </a:pPr>
            <a:r>
              <a:rPr dirty="0"/>
              <a:t>What happened? (one sentence)</a:t>
            </a:r>
          </a:p>
          <a:p>
            <a:pPr lvl="1">
              <a:defRPr sz="1800"/>
            </a:pPr>
            <a:r>
              <a:rPr dirty="0"/>
              <a:t>Evidence: (dashboard + execution + log)</a:t>
            </a:r>
          </a:p>
          <a:p>
            <a:pPr lvl="1">
              <a:defRPr sz="1800"/>
            </a:pPr>
            <a:r>
              <a:rPr dirty="0"/>
              <a:t>Classification: (one of the 4 leaves)</a:t>
            </a:r>
          </a:p>
          <a:p>
            <a:pPr lvl="1">
              <a:defRPr sz="1800"/>
            </a:pPr>
            <a:r>
              <a:rPr dirty="0"/>
              <a:t>First action: (one safe change + why)</a:t>
            </a:r>
          </a:p>
          <a:p>
            <a:pPr>
              <a:defRPr sz="1800"/>
            </a:pPr>
            <a:endParaRPr lang="en-GB" dirty="0"/>
          </a:p>
          <a:p>
            <a:pPr>
              <a:defRPr sz="1800"/>
            </a:pPr>
            <a:r>
              <a:rPr lang="en-GB" dirty="0"/>
              <a:t>Not acceptable: </a:t>
            </a:r>
            <a:r>
              <a:rPr dirty="0"/>
              <a:t>“we just increase everything”.</a:t>
            </a:r>
          </a:p>
          <a:p>
            <a:pPr>
              <a:defRPr sz="1800"/>
            </a:pPr>
            <a:r>
              <a:rPr lang="en-GB" dirty="0"/>
              <a:t>We need to</a:t>
            </a:r>
            <a:r>
              <a:rPr dirty="0"/>
              <a:t> tie evidence to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 (hands-on): scale the bottleneck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Run:</a:t>
            </a:r>
          </a:p>
          <a:p>
            <a:pPr lvl="1">
              <a:defRPr sz="1800"/>
            </a:pPr>
            <a:r>
              <a:rPr dirty="0"/>
              <a:t>`NEW_RC=10 ./scripts/04_scale_up_embed_concurrency.sh`</a:t>
            </a:r>
          </a:p>
          <a:p>
            <a:pPr>
              <a:defRPr sz="1800"/>
            </a:pPr>
            <a:r>
              <a:rPr dirty="0"/>
              <a:t>Then run the burst again:</a:t>
            </a:r>
          </a:p>
          <a:p>
            <a:pPr lvl="1">
              <a:defRPr sz="1800"/>
            </a:pPr>
            <a:r>
              <a:rPr dirty="0"/>
              <a:t>`N=40 ./scripts/03_burst_load.sh`</a:t>
            </a:r>
          </a:p>
          <a:p>
            <a:pPr>
              <a:defRPr sz="1800"/>
            </a:pPr>
            <a:r>
              <a:rPr dirty="0"/>
              <a:t>Expected change:</a:t>
            </a:r>
          </a:p>
          <a:p>
            <a:pPr lvl="1">
              <a:defRPr sz="1800"/>
            </a:pPr>
            <a:r>
              <a:rPr dirty="0"/>
              <a:t>Throttles reduce</a:t>
            </a:r>
          </a:p>
          <a:p>
            <a:pPr lvl="1">
              <a:defRPr sz="1800"/>
            </a:pPr>
            <a:r>
              <a:rPr dirty="0"/>
              <a:t>More executions succeed</a:t>
            </a:r>
          </a:p>
          <a:p>
            <a:pPr lvl="1">
              <a:defRPr sz="1800"/>
            </a:pPr>
            <a:r>
              <a:rPr dirty="0"/>
              <a:t>“Wall” moves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matters: scaling trade-offs (one minute)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Scaling </a:t>
            </a:r>
            <a:r>
              <a:rPr lang="en-GB" dirty="0"/>
              <a:t>controls</a:t>
            </a:r>
            <a:r>
              <a:rPr dirty="0"/>
              <a:t> are trade-offs:</a:t>
            </a:r>
          </a:p>
          <a:p>
            <a:pPr lvl="1">
              <a:defRPr sz="1800"/>
            </a:pPr>
            <a:r>
              <a:rPr dirty="0"/>
              <a:t>More concurrency = more throughput</a:t>
            </a:r>
          </a:p>
          <a:p>
            <a:pPr>
              <a:defRPr sz="1800"/>
            </a:pPr>
            <a:r>
              <a:rPr dirty="0"/>
              <a:t>But you can still hit:</a:t>
            </a:r>
          </a:p>
          <a:p>
            <a:pPr lvl="1">
              <a:defRPr sz="1800"/>
            </a:pPr>
            <a:r>
              <a:rPr dirty="0"/>
              <a:t>account limits</a:t>
            </a:r>
          </a:p>
          <a:p>
            <a:pPr lvl="1">
              <a:defRPr sz="1800"/>
            </a:pPr>
            <a:r>
              <a:rPr lang="en-GB" dirty="0"/>
              <a:t>"</a:t>
            </a:r>
            <a:r>
              <a:rPr dirty="0"/>
              <a:t>cold starts</a:t>
            </a:r>
            <a:r>
              <a:rPr lang="en-GB" dirty="0"/>
              <a:t>"</a:t>
            </a:r>
            <a:endParaRPr dirty="0"/>
          </a:p>
          <a:p>
            <a:pPr lvl="1">
              <a:defRPr sz="1800"/>
            </a:pPr>
            <a:r>
              <a:rPr dirty="0"/>
              <a:t>downstream bottlenecks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Optional</a:t>
            </a:r>
            <a:r>
              <a:rPr dirty="0"/>
              <a:t>: Kubernetes mapping (10 minutes max)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 you did today maps to Kubernetes:</a:t>
            </a:r>
          </a:p>
          <a:p>
            <a:pPr>
              <a:defRPr sz="1800"/>
            </a:pPr>
            <a:r>
              <a:t>Lambda concurrency ↔ replica count / HPA target</a:t>
            </a:r>
          </a:p>
          <a:p>
            <a:pPr>
              <a:defRPr sz="1800"/>
            </a:pPr>
            <a:r>
              <a:t>Lambda memory ↔ requests/limits</a:t>
            </a:r>
          </a:p>
          <a:p>
            <a:pPr>
              <a:defRPr sz="1800"/>
            </a:pPr>
            <a:r>
              <a:t>Throttles ↔ rate limits / autoscaler lag / quota</a:t>
            </a:r>
          </a:p>
          <a:p>
            <a:pPr>
              <a:defRPr sz="1800"/>
            </a:pPr>
            <a:r>
              <a:t>Step Functions graph ↔ DAG view (Argo/Airflow)</a:t>
            </a:r>
          </a:p>
          <a:p>
            <a:pPr>
              <a:defRPr sz="1800"/>
            </a:pPr>
            <a:r>
              <a:t>CloudWatch metrics ↔ Prometheus/Grafana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you could </a:t>
            </a:r>
            <a:r>
              <a:rPr dirty="0"/>
              <a:t>screenshot for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Learners </a:t>
            </a:r>
            <a:r>
              <a:rPr lang="en-GB" dirty="0"/>
              <a:t>could </a:t>
            </a:r>
            <a:r>
              <a:rPr dirty="0"/>
              <a:t>capture 3 pieces of evidence:</a:t>
            </a:r>
          </a:p>
          <a:p>
            <a:pPr>
              <a:defRPr sz="1800"/>
            </a:pPr>
            <a:r>
              <a:rPr dirty="0"/>
              <a:t>1) A dashboard showing throttles *before* and *after*</a:t>
            </a:r>
          </a:p>
          <a:p>
            <a:pPr>
              <a:defRPr sz="1800"/>
            </a:pPr>
            <a:r>
              <a:rPr dirty="0"/>
              <a:t>2) A Step Functions execution showing failure (red) and success (green)</a:t>
            </a:r>
          </a:p>
          <a:p>
            <a:pPr>
              <a:defRPr sz="1800"/>
            </a:pPr>
            <a:r>
              <a:rPr dirty="0"/>
              <a:t>3) One sentence explaining “what we scaled” and 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Cleanup 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GB" dirty="0"/>
              <a:t>In a real environment it’s always good to do the clean-up</a:t>
            </a:r>
          </a:p>
          <a:p>
            <a:pPr>
              <a:defRPr sz="1800"/>
            </a:pPr>
            <a:r>
              <a:rPr lang="en-GB" dirty="0"/>
              <a:t>Read the file contents to </a:t>
            </a:r>
            <a:r>
              <a:rPr lang="en-GB"/>
              <a:t>see what it does </a:t>
            </a:r>
            <a:r>
              <a:rPr lang="en-GB" dirty="0"/>
              <a:t>and then </a:t>
            </a:r>
            <a:r>
              <a:rPr dirty="0"/>
              <a:t>Run</a:t>
            </a:r>
            <a:r>
              <a:rPr lang="en-GB" dirty="0"/>
              <a:t> this script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/>
              <a:t>`./scripts/99_cleanup.sh`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698</Words>
  <Application>Microsoft Office PowerPoint</Application>
  <PresentationFormat>On-screen Show (4:3)</PresentationFormat>
  <Paragraphs>101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AI6 Unit 5.W — Scale or Fail (Afternoon)</vt:lpstr>
      <vt:lpstr>Orchestration: what it does for scaling</vt:lpstr>
      <vt:lpstr>The RCA promise (low stress)</vt:lpstr>
      <vt:lpstr>The 4-leaf “Scaling RCA” tree</vt:lpstr>
      <vt:lpstr>Controlled failure #1 (Bad input)</vt:lpstr>
      <vt:lpstr>Controlled failure #2 (Throttled under load)</vt:lpstr>
      <vt:lpstr>Activity 2: Incident report in 6 minutes</vt:lpstr>
      <vt:lpstr>The fix (hands-on): scale the bottleneck step</vt:lpstr>
      <vt:lpstr>Why this matters: scaling trade-offs (one minute)</vt:lpstr>
      <vt:lpstr>Optional: Kubernetes mapping (10 minutes max)</vt:lpstr>
      <vt:lpstr>What you could screenshot for portfolio</vt:lpstr>
      <vt:lpstr>Cleanup reminder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Hoffman</cp:lastModifiedBy>
  <cp:revision>1</cp:revision>
  <dcterms:created xsi:type="dcterms:W3CDTF">2013-01-27T09:14:16Z</dcterms:created>
  <dcterms:modified xsi:type="dcterms:W3CDTF">2026-02-09T12:37:27Z</dcterms:modified>
  <cp:category/>
</cp:coreProperties>
</file>