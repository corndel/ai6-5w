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7E1E09-63C0-4C14-854F-5455664E8FF8}" v="3" dt="2026-02-09T12:33:16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144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Hoffman" userId="c89afae9-2ab1-4454-9d15-124c09a77240" providerId="ADAL" clId="{C92867C0-20CC-4CF3-B09C-9485EE8A71FC}"/>
    <pc:docChg chg="undo custSel addSld modSld">
      <pc:chgData name="Mike Hoffman" userId="c89afae9-2ab1-4454-9d15-124c09a77240" providerId="ADAL" clId="{C92867C0-20CC-4CF3-B09C-9485EE8A71FC}" dt="2026-02-09T12:33:35.481" v="761" actId="20577"/>
      <pc:docMkLst>
        <pc:docMk/>
      </pc:docMkLst>
      <pc:sldChg chg="addSp delSp modSp mod">
        <pc:chgData name="Mike Hoffman" userId="c89afae9-2ab1-4454-9d15-124c09a77240" providerId="ADAL" clId="{C92867C0-20CC-4CF3-B09C-9485EE8A71FC}" dt="2026-02-09T12:28:56.261" v="351" actId="27636"/>
        <pc:sldMkLst>
          <pc:docMk/>
          <pc:sldMk cId="0" sldId="256"/>
        </pc:sldMkLst>
        <pc:spChg chg="mod">
          <ac:chgData name="Mike Hoffman" userId="c89afae9-2ab1-4454-9d15-124c09a77240" providerId="ADAL" clId="{C92867C0-20CC-4CF3-B09C-9485EE8A71FC}" dt="2026-02-09T12:28:56.261" v="351" actId="27636"/>
          <ac:spMkLst>
            <pc:docMk/>
            <pc:sldMk cId="0" sldId="256"/>
            <ac:spMk id="2" creationId="{00000000-0000-0000-0000-000000000000}"/>
          </ac:spMkLst>
        </pc:spChg>
        <pc:spChg chg="del">
          <ac:chgData name="Mike Hoffman" userId="c89afae9-2ab1-4454-9d15-124c09a77240" providerId="ADAL" clId="{C92867C0-20CC-4CF3-B09C-9485EE8A71FC}" dt="2026-02-09T12:25:30.753" v="0" actId="478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Mike Hoffman" userId="c89afae9-2ab1-4454-9d15-124c09a77240" providerId="ADAL" clId="{C92867C0-20CC-4CF3-B09C-9485EE8A71FC}" dt="2026-02-09T12:26:04.716" v="99" actId="20577"/>
          <ac:spMkLst>
            <pc:docMk/>
            <pc:sldMk cId="0" sldId="256"/>
            <ac:spMk id="5" creationId="{9CFFCB58-81DB-5576-C29A-2DBEF1933535}"/>
          </ac:spMkLst>
        </pc:spChg>
      </pc:sldChg>
      <pc:sldChg chg="modSp mod">
        <pc:chgData name="Mike Hoffman" userId="c89afae9-2ab1-4454-9d15-124c09a77240" providerId="ADAL" clId="{C92867C0-20CC-4CF3-B09C-9485EE8A71FC}" dt="2026-02-09T12:26:33.706" v="176" actId="5793"/>
        <pc:sldMkLst>
          <pc:docMk/>
          <pc:sldMk cId="0" sldId="257"/>
        </pc:sldMkLst>
        <pc:spChg chg="mod">
          <ac:chgData name="Mike Hoffman" userId="c89afae9-2ab1-4454-9d15-124c09a77240" providerId="ADAL" clId="{C92867C0-20CC-4CF3-B09C-9485EE8A71FC}" dt="2026-02-09T12:26:17.939" v="128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Mike Hoffman" userId="c89afae9-2ab1-4454-9d15-124c09a77240" providerId="ADAL" clId="{C92867C0-20CC-4CF3-B09C-9485EE8A71FC}" dt="2026-02-09T12:26:33.706" v="176" actId="579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27:11.340" v="255" actId="255"/>
        <pc:sldMkLst>
          <pc:docMk/>
          <pc:sldMk cId="0" sldId="258"/>
        </pc:sldMkLst>
        <pc:spChg chg="mod">
          <ac:chgData name="Mike Hoffman" userId="c89afae9-2ab1-4454-9d15-124c09a77240" providerId="ADAL" clId="{C92867C0-20CC-4CF3-B09C-9485EE8A71FC}" dt="2026-02-09T12:26:38.461" v="177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ike Hoffman" userId="c89afae9-2ab1-4454-9d15-124c09a77240" providerId="ADAL" clId="{C92867C0-20CC-4CF3-B09C-9485EE8A71FC}" dt="2026-02-09T12:27:11.340" v="255" actId="255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27:38.408" v="275" actId="20577"/>
        <pc:sldMkLst>
          <pc:docMk/>
          <pc:sldMk cId="0" sldId="259"/>
        </pc:sldMkLst>
        <pc:spChg chg="mod">
          <ac:chgData name="Mike Hoffman" userId="c89afae9-2ab1-4454-9d15-124c09a77240" providerId="ADAL" clId="{C92867C0-20CC-4CF3-B09C-9485EE8A71FC}" dt="2026-02-09T12:27:38.408" v="275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28:13.701" v="334" actId="255"/>
        <pc:sldMkLst>
          <pc:docMk/>
          <pc:sldMk cId="0" sldId="260"/>
        </pc:sldMkLst>
        <pc:spChg chg="mod">
          <ac:chgData name="Mike Hoffman" userId="c89afae9-2ab1-4454-9d15-124c09a77240" providerId="ADAL" clId="{C92867C0-20CC-4CF3-B09C-9485EE8A71FC}" dt="2026-02-09T12:27:47.003" v="278" actId="2057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ike Hoffman" userId="c89afae9-2ab1-4454-9d15-124c09a77240" providerId="ADAL" clId="{C92867C0-20CC-4CF3-B09C-9485EE8A71FC}" dt="2026-02-09T12:28:13.701" v="334" actId="255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28:31.979" v="342" actId="255"/>
        <pc:sldMkLst>
          <pc:docMk/>
          <pc:sldMk cId="0" sldId="261"/>
        </pc:sldMkLst>
        <pc:spChg chg="mod">
          <ac:chgData name="Mike Hoffman" userId="c89afae9-2ab1-4454-9d15-124c09a77240" providerId="ADAL" clId="{C92867C0-20CC-4CF3-B09C-9485EE8A71FC}" dt="2026-02-09T12:28:21.300" v="337" actId="20577"/>
          <ac:spMkLst>
            <pc:docMk/>
            <pc:sldMk cId="0" sldId="261"/>
            <ac:spMk id="2" creationId="{00000000-0000-0000-0000-000000000000}"/>
          </ac:spMkLst>
        </pc:spChg>
        <pc:spChg chg="mod">
          <ac:chgData name="Mike Hoffman" userId="c89afae9-2ab1-4454-9d15-124c09a77240" providerId="ADAL" clId="{C92867C0-20CC-4CF3-B09C-9485EE8A71FC}" dt="2026-02-09T12:28:31.979" v="342" actId="255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28:37.488" v="343" actId="15"/>
        <pc:sldMkLst>
          <pc:docMk/>
          <pc:sldMk cId="0" sldId="262"/>
        </pc:sldMkLst>
        <pc:spChg chg="mod">
          <ac:chgData name="Mike Hoffman" userId="c89afae9-2ab1-4454-9d15-124c09a77240" providerId="ADAL" clId="{C92867C0-20CC-4CF3-B09C-9485EE8A71FC}" dt="2026-02-09T12:28:37.488" v="343" actId="15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29:02.484" v="374" actId="5793"/>
        <pc:sldMkLst>
          <pc:docMk/>
          <pc:sldMk cId="0" sldId="263"/>
        </pc:sldMkLst>
        <pc:spChg chg="mod">
          <ac:chgData name="Mike Hoffman" userId="c89afae9-2ab1-4454-9d15-124c09a77240" providerId="ADAL" clId="{C92867C0-20CC-4CF3-B09C-9485EE8A71FC}" dt="2026-02-09T12:28:52.485" v="345" actId="21"/>
          <ac:spMkLst>
            <pc:docMk/>
            <pc:sldMk cId="0" sldId="263"/>
            <ac:spMk id="2" creationId="{00000000-0000-0000-0000-000000000000}"/>
          </ac:spMkLst>
        </pc:spChg>
        <pc:spChg chg="mod">
          <ac:chgData name="Mike Hoffman" userId="c89afae9-2ab1-4454-9d15-124c09a77240" providerId="ADAL" clId="{C92867C0-20CC-4CF3-B09C-9485EE8A71FC}" dt="2026-02-09T12:29:02.484" v="374" actId="5793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29:30.560" v="389" actId="20577"/>
        <pc:sldMkLst>
          <pc:docMk/>
          <pc:sldMk cId="0" sldId="264"/>
        </pc:sldMkLst>
        <pc:spChg chg="mod">
          <ac:chgData name="Mike Hoffman" userId="c89afae9-2ab1-4454-9d15-124c09a77240" providerId="ADAL" clId="{C92867C0-20CC-4CF3-B09C-9485EE8A71FC}" dt="2026-02-09T12:29:30.560" v="389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1:01.490" v="658" actId="20577"/>
        <pc:sldMkLst>
          <pc:docMk/>
          <pc:sldMk cId="0" sldId="265"/>
        </pc:sldMkLst>
        <pc:spChg chg="mod">
          <ac:chgData name="Mike Hoffman" userId="c89afae9-2ab1-4454-9d15-124c09a77240" providerId="ADAL" clId="{C92867C0-20CC-4CF3-B09C-9485EE8A71FC}" dt="2026-02-09T12:29:38.748" v="390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Mike Hoffman" userId="c89afae9-2ab1-4454-9d15-124c09a77240" providerId="ADAL" clId="{C92867C0-20CC-4CF3-B09C-9485EE8A71FC}" dt="2026-02-09T12:31:01.490" v="658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1:30.130" v="694" actId="15"/>
        <pc:sldMkLst>
          <pc:docMk/>
          <pc:sldMk cId="0" sldId="266"/>
        </pc:sldMkLst>
        <pc:spChg chg="mod">
          <ac:chgData name="Mike Hoffman" userId="c89afae9-2ab1-4454-9d15-124c09a77240" providerId="ADAL" clId="{C92867C0-20CC-4CF3-B09C-9485EE8A71FC}" dt="2026-02-09T12:31:11.735" v="659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Mike Hoffman" userId="c89afae9-2ab1-4454-9d15-124c09a77240" providerId="ADAL" clId="{C92867C0-20CC-4CF3-B09C-9485EE8A71FC}" dt="2026-02-09T12:31:30.130" v="694" actId="15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1:48.963" v="701" actId="14"/>
        <pc:sldMkLst>
          <pc:docMk/>
          <pc:sldMk cId="0" sldId="267"/>
        </pc:sldMkLst>
        <pc:spChg chg="mod">
          <ac:chgData name="Mike Hoffman" userId="c89afae9-2ab1-4454-9d15-124c09a77240" providerId="ADAL" clId="{C92867C0-20CC-4CF3-B09C-9485EE8A71FC}" dt="2026-02-09T12:31:48.963" v="701" actId="14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2:40.795" v="743" actId="5793"/>
        <pc:sldMkLst>
          <pc:docMk/>
          <pc:sldMk cId="0" sldId="268"/>
        </pc:sldMkLst>
        <pc:spChg chg="mod">
          <ac:chgData name="Mike Hoffman" userId="c89afae9-2ab1-4454-9d15-124c09a77240" providerId="ADAL" clId="{C92867C0-20CC-4CF3-B09C-9485EE8A71FC}" dt="2026-02-09T12:32:01.811" v="717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Mike Hoffman" userId="c89afae9-2ab1-4454-9d15-124c09a77240" providerId="ADAL" clId="{C92867C0-20CC-4CF3-B09C-9485EE8A71FC}" dt="2026-02-09T12:32:40.795" v="743" actId="5793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2:51.059" v="746" actId="20577"/>
        <pc:sldMkLst>
          <pc:docMk/>
          <pc:sldMk cId="0" sldId="269"/>
        </pc:sldMkLst>
        <pc:spChg chg="mod">
          <ac:chgData name="Mike Hoffman" userId="c89afae9-2ab1-4454-9d15-124c09a77240" providerId="ADAL" clId="{C92867C0-20CC-4CF3-B09C-9485EE8A71FC}" dt="2026-02-09T12:32:51.059" v="746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3:09.363" v="751" actId="21"/>
        <pc:sldMkLst>
          <pc:docMk/>
          <pc:sldMk cId="0" sldId="270"/>
        </pc:sldMkLst>
        <pc:spChg chg="mod">
          <ac:chgData name="Mike Hoffman" userId="c89afae9-2ab1-4454-9d15-124c09a77240" providerId="ADAL" clId="{C92867C0-20CC-4CF3-B09C-9485EE8A71FC}" dt="2026-02-09T12:33:09.363" v="751" actId="21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Mike Hoffman" userId="c89afae9-2ab1-4454-9d15-124c09a77240" providerId="ADAL" clId="{C92867C0-20CC-4CF3-B09C-9485EE8A71FC}" dt="2026-02-09T12:33:35.481" v="761" actId="20577"/>
        <pc:sldMkLst>
          <pc:docMk/>
          <pc:sldMk cId="0" sldId="271"/>
        </pc:sldMkLst>
        <pc:spChg chg="mod">
          <ac:chgData name="Mike Hoffman" userId="c89afae9-2ab1-4454-9d15-124c09a77240" providerId="ADAL" clId="{C92867C0-20CC-4CF3-B09C-9485EE8A71FC}" dt="2026-02-09T12:33:35.481" v="761" actId="20577"/>
          <ac:spMkLst>
            <pc:docMk/>
            <pc:sldMk cId="0" sldId="271"/>
            <ac:spMk id="2" creationId="{00000000-0000-0000-0000-000000000000}"/>
          </ac:spMkLst>
        </pc:spChg>
      </pc:sldChg>
      <pc:sldChg chg="modSp add mod">
        <pc:chgData name="Mike Hoffman" userId="c89afae9-2ab1-4454-9d15-124c09a77240" providerId="ADAL" clId="{C92867C0-20CC-4CF3-B09C-9485EE8A71FC}" dt="2026-02-09T12:33:26.814" v="760" actId="114"/>
        <pc:sldMkLst>
          <pc:docMk/>
          <pc:sldMk cId="716829734" sldId="272"/>
        </pc:sldMkLst>
        <pc:spChg chg="mod">
          <ac:chgData name="Mike Hoffman" userId="c89afae9-2ab1-4454-9d15-124c09a77240" providerId="ADAL" clId="{C92867C0-20CC-4CF3-B09C-9485EE8A71FC}" dt="2026-02-09T12:33:26.814" v="760" actId="114"/>
          <ac:spMkLst>
            <pc:docMk/>
            <pc:sldMk cId="716829734" sldId="272"/>
            <ac:spMk id="3" creationId="{50AF965A-2EB0-F397-5D1B-A03BBF88CCC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560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Today’s workshop is one story.</a:t>
            </a:r>
          </a:p>
          <a:p>
            <a:r>
              <a:t>- You will not write code. You will run a real pipeline, break it under load, then fix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Everything we do today fits one of these sentences.</a:t>
            </a:r>
          </a:p>
          <a:p>
            <a:r>
              <a:t>- If something doesn’t fit, we ignore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This is common in industry: triage, routing, embeddings.</a:t>
            </a:r>
          </a:p>
          <a:p>
            <a:r>
              <a:t>- We’re not chasing accuracy today. We’re chasing *survival under load*.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This avoids dependency/pip-install pain and keeps coaches sane.</a:t>
            </a:r>
          </a:p>
          <a:p>
            <a:r>
              <a:t>- The scaling behaviour is the same: the “model step” is heavier than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You only scale what is limiting you.</a:t>
            </a:r>
          </a:p>
          <a:p>
            <a:r>
              <a:t>- If you scale the wrong thing, nothing improves.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No API Gateway. No databases. No queues. MVP only.</a:t>
            </a:r>
          </a:p>
          <a:p>
            <a:r>
              <a:t>- Every extra service is another way to lose 30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The middle step is designed to be the bottleneck.</a:t>
            </a:r>
          </a:p>
          <a:p>
            <a:r>
              <a:t>- This makes “what are we scaling?” obvious.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These are your production senses.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You can narrate while it deploys.</a:t>
            </a:r>
          </a:p>
          <a:p>
            <a:r>
              <a:t>- Ask learners to keep the stack name exactly as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Keep this visual. Don’t explain everything, just “here’s where we look later”.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Confirm the pipeline works before we scale it.</a:t>
            </a:r>
          </a:p>
          <a:p>
            <a:r>
              <a:t>- That’s a real production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- The wall is intentional.</a:t>
            </a:r>
          </a:p>
          <a:p>
            <a:r>
              <a:t>- Now we can practise the production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AI6 Unit 5.W — Scale or Fail (Morning)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FFCB58-81DB-5576-C29A-2DBEF1933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Safeguarding contact details</a:t>
            </a:r>
          </a:p>
          <a:p>
            <a:r>
              <a:rPr lang="en-GB" dirty="0"/>
              <a:t>Reminder about British Values and Prevent</a:t>
            </a:r>
          </a:p>
          <a:p>
            <a:r>
              <a:rPr lang="en-GB" dirty="0"/>
              <a:t>Wellbeing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three mantras for scaling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3600" b="1" dirty="0"/>
              <a:t>Scaling</a:t>
            </a:r>
            <a:r>
              <a:rPr sz="3600" dirty="0"/>
              <a:t> is the job.</a:t>
            </a:r>
          </a:p>
          <a:p>
            <a:pPr>
              <a:defRPr sz="1800"/>
            </a:pPr>
            <a:r>
              <a:rPr sz="3600" b="1" dirty="0"/>
              <a:t>Orchestration</a:t>
            </a:r>
            <a:r>
              <a:rPr sz="3600" dirty="0"/>
              <a:t> is the mechanism.</a:t>
            </a:r>
          </a:p>
          <a:p>
            <a:pPr>
              <a:defRPr sz="1800"/>
            </a:pPr>
            <a:r>
              <a:rPr sz="3600" b="1" dirty="0"/>
              <a:t>Root Cause Analysis </a:t>
            </a:r>
            <a:r>
              <a:rPr sz="3600" dirty="0"/>
              <a:t>is the safety net.</a:t>
            </a:r>
            <a:endParaRPr lang="en-GB" sz="3600" dirty="0"/>
          </a:p>
          <a:p>
            <a:pPr>
              <a:defRPr sz="1800"/>
            </a:pPr>
            <a:endParaRPr lang="en-GB" sz="3600" dirty="0"/>
          </a:p>
          <a:p>
            <a:pPr lvl="1">
              <a:defRPr sz="1800"/>
            </a:pPr>
            <a:r>
              <a:rPr lang="en-GB" sz="3200" dirty="0"/>
              <a:t>Don’t worry – we’ll explain </a:t>
            </a:r>
            <a:r>
              <a:rPr lang="en-GB" sz="3200" dirty="0">
                <a:sym typeface="Wingdings" panose="05000000000000000000" pitchFamily="2" charset="2"/>
              </a:rPr>
              <a:t></a:t>
            </a:r>
            <a:endParaRPr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Business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b="1" dirty="0"/>
              <a:t>“Flash Sale Friday” </a:t>
            </a:r>
            <a:r>
              <a:rPr lang="en-GB" sz="2400" b="1" dirty="0"/>
              <a:t>resulted in a surge of support tickets (helpdesk tickets)</a:t>
            </a:r>
            <a:endParaRPr sz="2400" b="1" dirty="0"/>
          </a:p>
          <a:p>
            <a:pPr>
              <a:defRPr sz="1800"/>
            </a:pPr>
            <a:r>
              <a:rPr sz="2400" dirty="0"/>
              <a:t>A subscription business gets 10× more support tickets for 30 minutes.</a:t>
            </a:r>
          </a:p>
          <a:p>
            <a:pPr>
              <a:defRPr sz="1800"/>
            </a:pPr>
            <a:r>
              <a:rPr sz="2400" dirty="0"/>
              <a:t>Goal:</a:t>
            </a:r>
          </a:p>
          <a:p>
            <a:pPr lvl="1">
              <a:defRPr sz="1800"/>
            </a:pPr>
            <a:r>
              <a:rPr sz="2400" dirty="0"/>
              <a:t>Tickets </a:t>
            </a:r>
            <a:r>
              <a:rPr lang="en-GB" sz="2400" dirty="0"/>
              <a:t>should be</a:t>
            </a:r>
            <a:r>
              <a:rPr sz="2400" dirty="0"/>
              <a:t> routed automatically to the right queue:</a:t>
            </a:r>
          </a:p>
          <a:p>
            <a:pPr lvl="2">
              <a:defRPr sz="1800"/>
            </a:pPr>
            <a:r>
              <a:rPr dirty="0"/>
              <a:t>Billing</a:t>
            </a:r>
          </a:p>
          <a:p>
            <a:pPr lvl="2">
              <a:defRPr sz="1800"/>
            </a:pPr>
            <a:r>
              <a:rPr dirty="0"/>
              <a:t>Delivery</a:t>
            </a:r>
          </a:p>
          <a:p>
            <a:pPr lvl="2">
              <a:defRPr sz="1800"/>
            </a:pPr>
            <a:r>
              <a:rPr dirty="0"/>
              <a:t>Technical</a:t>
            </a:r>
          </a:p>
          <a:p>
            <a:pPr lvl="2">
              <a:defRPr sz="1800"/>
            </a:pPr>
            <a:r>
              <a:rPr dirty="0"/>
              <a:t>Cancellation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model are we using?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We </a:t>
            </a:r>
            <a:r>
              <a:rPr i="1" dirty="0"/>
              <a:t>reference</a:t>
            </a:r>
            <a:r>
              <a:rPr dirty="0"/>
              <a:t> a real industry model choice:</a:t>
            </a:r>
          </a:p>
          <a:p>
            <a:pPr lvl="1">
              <a:defRPr sz="1800"/>
            </a:pPr>
            <a:r>
              <a:rPr b="1" dirty="0"/>
              <a:t>`sentence-transformers/all-MiniLM-L6-v2`</a:t>
            </a:r>
          </a:p>
          <a:p>
            <a:pPr>
              <a:defRPr sz="1800"/>
            </a:pPr>
            <a:r>
              <a:rPr dirty="0"/>
              <a:t>In this workshop we use a safe, deterministic simulation that produces:</a:t>
            </a:r>
          </a:p>
          <a:p>
            <a:pPr lvl="1">
              <a:defRPr sz="1800"/>
            </a:pPr>
            <a:r>
              <a:rPr dirty="0"/>
              <a:t>a </a:t>
            </a:r>
            <a:r>
              <a:rPr dirty="0" err="1"/>
              <a:t>MiniLM</a:t>
            </a:r>
            <a:r>
              <a:rPr dirty="0"/>
              <a:t>-style embedding shape (384 dims)</a:t>
            </a:r>
          </a:p>
          <a:p>
            <a:pPr lvl="1">
              <a:defRPr sz="1800"/>
            </a:pPr>
            <a:r>
              <a:rPr dirty="0"/>
              <a:t>a route decision + confidence score</a:t>
            </a:r>
            <a:endParaRPr lang="en-GB" dirty="0"/>
          </a:p>
          <a:p>
            <a:pPr lvl="1">
              <a:defRPr sz="1800"/>
            </a:pPr>
            <a:endParaRPr lang="en-GB" dirty="0"/>
          </a:p>
          <a:p>
            <a:pPr>
              <a:defRPr sz="1800"/>
            </a:pPr>
            <a:r>
              <a:rPr lang="en-GB" dirty="0"/>
              <a:t>Questions?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key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b="1" dirty="0"/>
              <a:t>What are we actually scaling?</a:t>
            </a:r>
          </a:p>
          <a:p>
            <a:pPr>
              <a:defRPr sz="1800"/>
            </a:pPr>
            <a:endParaRPr lang="en-GB" sz="2400" dirty="0"/>
          </a:p>
          <a:p>
            <a:pPr>
              <a:defRPr sz="1800"/>
            </a:pPr>
            <a:r>
              <a:rPr lang="en-GB" sz="2400" dirty="0"/>
              <a:t>In any situation, ask yourself - </a:t>
            </a:r>
            <a:r>
              <a:rPr sz="2400" dirty="0"/>
              <a:t>Is the bottleneck:</a:t>
            </a:r>
          </a:p>
          <a:p>
            <a:pPr lvl="1">
              <a:defRPr sz="1800"/>
            </a:pPr>
            <a:r>
              <a:rPr sz="2400" dirty="0"/>
              <a:t>Pre-model (validation/cleanup)?</a:t>
            </a:r>
          </a:p>
          <a:p>
            <a:pPr lvl="1">
              <a:defRPr sz="1800"/>
            </a:pPr>
            <a:r>
              <a:rPr sz="2400" dirty="0"/>
              <a:t>The model step (embedding/inference)?</a:t>
            </a:r>
          </a:p>
          <a:p>
            <a:pPr lvl="1">
              <a:defRPr sz="1800"/>
            </a:pPr>
            <a:r>
              <a:rPr sz="2400" dirty="0"/>
              <a:t>Post-model (routing/formatting</a:t>
            </a:r>
            <a:r>
              <a:rPr lang="en-GB" sz="2400" dirty="0"/>
              <a:t> of the results</a:t>
            </a:r>
            <a:r>
              <a:rPr sz="2400" dirty="0"/>
              <a:t>)?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</a:t>
            </a:r>
            <a:r>
              <a:rPr lang="en-GB" dirty="0"/>
              <a:t>MVP</a:t>
            </a:r>
            <a:r>
              <a:rPr dirty="0"/>
              <a:t> we will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We intentionally use only:</a:t>
            </a:r>
          </a:p>
          <a:p>
            <a:pPr lvl="1">
              <a:defRPr sz="1800"/>
            </a:pPr>
            <a:r>
              <a:rPr sz="2400" dirty="0"/>
              <a:t>AWS Step Functions (orchestration map)</a:t>
            </a:r>
          </a:p>
          <a:p>
            <a:pPr lvl="1">
              <a:defRPr sz="1800"/>
            </a:pPr>
            <a:r>
              <a:rPr sz="2400" dirty="0"/>
              <a:t>3 AWS Lambda functions (pre → model → post)</a:t>
            </a:r>
          </a:p>
          <a:p>
            <a:pPr lvl="1">
              <a:defRPr sz="1800"/>
            </a:pPr>
            <a:r>
              <a:rPr sz="2400" dirty="0"/>
              <a:t>CloudWatch dashboard + logs (observability)</a:t>
            </a:r>
          </a:p>
          <a:p>
            <a:pPr lvl="1">
              <a:defRPr sz="1800"/>
            </a:pPr>
            <a:r>
              <a:rPr sz="2400" dirty="0" err="1"/>
              <a:t>CloudShell</a:t>
            </a:r>
            <a:r>
              <a:rPr sz="2400" dirty="0"/>
              <a:t> + CloudFormation (repeatable setup)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(simple)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Step Functions orchestrates:</a:t>
            </a:r>
          </a:p>
          <a:p>
            <a:pPr lvl="1">
              <a:defRPr sz="1800"/>
            </a:pPr>
            <a:r>
              <a:rPr dirty="0"/>
              <a:t>1) Preprocess Lambda (fast)</a:t>
            </a:r>
          </a:p>
          <a:p>
            <a:pPr lvl="1">
              <a:defRPr sz="1800"/>
            </a:pPr>
            <a:r>
              <a:rPr dirty="0"/>
              <a:t>2) Embed/“Model” Lambda (slow + throttled on purpose)</a:t>
            </a:r>
          </a:p>
          <a:p>
            <a:pPr lvl="1">
              <a:defRPr sz="1800"/>
            </a:pPr>
            <a:r>
              <a:rPr dirty="0"/>
              <a:t>3) Postprocess Lambda (fast)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Observable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When load increases, watch:</a:t>
            </a:r>
          </a:p>
          <a:p>
            <a:pPr lvl="1">
              <a:defRPr sz="1800"/>
            </a:pPr>
            <a:r>
              <a:rPr dirty="0"/>
              <a:t>Latency (duration p95)</a:t>
            </a:r>
          </a:p>
          <a:p>
            <a:pPr lvl="1">
              <a:defRPr sz="1800"/>
            </a:pPr>
            <a:r>
              <a:rPr dirty="0"/>
              <a:t>Errors (failed executions)</a:t>
            </a:r>
          </a:p>
          <a:p>
            <a:pPr lvl="1">
              <a:defRPr sz="1800"/>
            </a:pPr>
            <a:r>
              <a:rPr dirty="0"/>
              <a:t>Throttles (requests rejected due to limits)</a:t>
            </a:r>
            <a:endParaRPr lang="en-GB" dirty="0"/>
          </a:p>
          <a:p>
            <a:pPr lvl="1">
              <a:defRPr sz="1800"/>
            </a:pPr>
            <a:endParaRPr lang="en-GB" dirty="0"/>
          </a:p>
          <a:p>
            <a:pPr>
              <a:defRPr sz="1800"/>
            </a:pPr>
            <a:r>
              <a:rPr lang="en-GB" dirty="0"/>
              <a:t>These are he only three graphs that matter today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hands-on 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By lunch you will be able to:</a:t>
            </a:r>
          </a:p>
          <a:p>
            <a:pPr lvl="1">
              <a:defRPr sz="1800"/>
            </a:pPr>
            <a:r>
              <a:rPr dirty="0"/>
              <a:t>1) Run one clean “happy path” request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dirty="0"/>
          </a:p>
          <a:p>
            <a:pPr lvl="1">
              <a:defRPr sz="1800"/>
            </a:pPr>
            <a:r>
              <a:rPr dirty="0"/>
              <a:t>2) Create a burst that hits a scaling wall</a:t>
            </a:r>
            <a:r>
              <a:rPr lang="en-GB" dirty="0"/>
              <a:t>!</a:t>
            </a:r>
            <a:endParaRPr dirty="0"/>
          </a:p>
          <a:p>
            <a:pPr lvl="1">
              <a:defRPr sz="1800"/>
            </a:pPr>
            <a:r>
              <a:rPr dirty="0"/>
              <a:t>3) Point to </a:t>
            </a:r>
            <a:r>
              <a:rPr b="1" dirty="0"/>
              <a:t>which</a:t>
            </a:r>
            <a:r>
              <a:rPr dirty="0"/>
              <a:t> step caused the wall and prove it with evidence</a:t>
            </a:r>
          </a:p>
          <a:p>
            <a:pPr>
              <a:defRPr sz="1800"/>
            </a:pPr>
            <a:endParaRPr lang="en-GB" dirty="0"/>
          </a:p>
          <a:p>
            <a:pPr>
              <a:defRPr sz="1800"/>
            </a:pPr>
            <a:r>
              <a:rPr b="1" dirty="0"/>
              <a:t>Evidence</a:t>
            </a:r>
            <a:r>
              <a:rPr dirty="0"/>
              <a:t> = </a:t>
            </a:r>
            <a:r>
              <a:rPr i="1" dirty="0"/>
              <a:t>dashboard + execution graph + log 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Coach “follow-me”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GB" dirty="0"/>
              <a:t>To set-up your environment, we will do this together</a:t>
            </a:r>
            <a:r>
              <a:rPr dirty="0"/>
              <a:t>:</a:t>
            </a:r>
          </a:p>
          <a:p>
            <a:pPr>
              <a:defRPr sz="1800"/>
            </a:pPr>
            <a:r>
              <a:rPr lang="en-GB" dirty="0"/>
              <a:t>Open </a:t>
            </a:r>
            <a:r>
              <a:rPr dirty="0"/>
              <a:t>AWS Console </a:t>
            </a:r>
            <a:r>
              <a:rPr lang="en-GB" dirty="0"/>
              <a:t>using your </a:t>
            </a:r>
            <a:r>
              <a:rPr dirty="0"/>
              <a:t>sandbox </a:t>
            </a:r>
            <a:r>
              <a:rPr lang="en-GB" dirty="0"/>
              <a:t>log-in</a:t>
            </a:r>
            <a:endParaRPr dirty="0"/>
          </a:p>
          <a:p>
            <a:pPr>
              <a:defRPr sz="1800"/>
            </a:pPr>
            <a:r>
              <a:rPr lang="en-GB" dirty="0"/>
              <a:t>We will try to use the r</a:t>
            </a:r>
            <a:r>
              <a:rPr dirty="0" err="1"/>
              <a:t>egion</a:t>
            </a:r>
            <a:r>
              <a:rPr dirty="0"/>
              <a:t>: us-east-1</a:t>
            </a:r>
            <a:r>
              <a:rPr lang="en-GB" dirty="0"/>
              <a:t>, unless your coach directs otherwise</a:t>
            </a:r>
            <a:endParaRPr dirty="0"/>
          </a:p>
          <a:p>
            <a:pPr>
              <a:defRPr sz="1800"/>
            </a:pPr>
            <a:r>
              <a:rPr lang="en-GB" dirty="0"/>
              <a:t>Launch </a:t>
            </a:r>
            <a:r>
              <a:rPr dirty="0" err="1"/>
              <a:t>CloudShell</a:t>
            </a:r>
            <a:endParaRPr lang="en-GB" dirty="0"/>
          </a:p>
          <a:p>
            <a:pPr>
              <a:defRPr sz="1800"/>
            </a:pPr>
            <a:r>
              <a:rPr lang="en-GB" dirty="0"/>
              <a:t>Load the files from this workshop’s </a:t>
            </a:r>
            <a:r>
              <a:rPr lang="en-GB" dirty="0" err="1"/>
              <a:t>github</a:t>
            </a:r>
            <a:r>
              <a:rPr lang="en-GB" dirty="0"/>
              <a:t> repo into your environment</a:t>
            </a:r>
            <a:endParaRPr dirty="0"/>
          </a:p>
          <a:p>
            <a:pPr>
              <a:defRPr sz="1800"/>
            </a:pPr>
            <a:r>
              <a:rPr dirty="0"/>
              <a:t>Then</a:t>
            </a:r>
            <a:r>
              <a:rPr lang="en-GB" dirty="0"/>
              <a:t>, from the correct directory,</a:t>
            </a:r>
            <a:r>
              <a:rPr dirty="0"/>
              <a:t> run:</a:t>
            </a:r>
          </a:p>
          <a:p>
            <a:pPr lvl="1">
              <a:defRPr sz="1800"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 +x scripts/*.</a:t>
            </a:r>
            <a:r>
              <a:rPr dirty="0" err="1"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`</a:t>
            </a:r>
          </a:p>
          <a:p>
            <a:pPr lvl="1">
              <a:defRPr sz="1800"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`./scripts/00_set_region.sh`</a:t>
            </a:r>
          </a:p>
          <a:p>
            <a:pPr lvl="1">
              <a:defRPr sz="1800"/>
            </a:pPr>
            <a:r>
              <a:rPr dirty="0">
                <a:latin typeface="Courier New" panose="02070309020205020404" pitchFamily="49" charset="0"/>
                <a:cs typeface="Courier New" panose="02070309020205020404" pitchFamily="49" charset="0"/>
              </a:rPr>
              <a:t>`./scripts/01_deploy.sh`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Coach “follow-me”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GB" dirty="0"/>
              <a:t>Your coach will now show you</a:t>
            </a:r>
            <a:r>
              <a:rPr dirty="0"/>
              <a:t> where to find:</a:t>
            </a:r>
            <a:endParaRPr lang="en-GB" dirty="0"/>
          </a:p>
          <a:p>
            <a:pPr>
              <a:defRPr sz="1800"/>
            </a:pPr>
            <a:endParaRPr dirty="0"/>
          </a:p>
          <a:p>
            <a:pPr lvl="1">
              <a:defRPr sz="1800"/>
            </a:pPr>
            <a:r>
              <a:rPr dirty="0"/>
              <a:t>Step Functions → State machines → AI6-Unit5W-ScaleOrFail-state-machine</a:t>
            </a:r>
          </a:p>
          <a:p>
            <a:pPr lvl="1">
              <a:defRPr sz="1800"/>
            </a:pPr>
            <a:r>
              <a:rPr dirty="0"/>
              <a:t>CloudWatch → Dashboards → AI6-Unit5W-ScaleOrFail-dashboard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run one ticket (happy path)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Run:</a:t>
            </a:r>
          </a:p>
          <a:p>
            <a:pPr lvl="1">
              <a:defRPr sz="1800"/>
            </a:pPr>
            <a:r>
              <a:rPr dirty="0"/>
              <a:t>`./scripts/02_invoke_one.sh`</a:t>
            </a:r>
          </a:p>
          <a:p>
            <a:pPr>
              <a:defRPr sz="1800"/>
            </a:pPr>
            <a:r>
              <a:rPr dirty="0"/>
              <a:t>What </a:t>
            </a:r>
            <a:r>
              <a:rPr lang="en-GB" dirty="0"/>
              <a:t>you</a:t>
            </a:r>
            <a:r>
              <a:rPr dirty="0"/>
              <a:t> should see:</a:t>
            </a:r>
          </a:p>
          <a:p>
            <a:pPr lvl="1">
              <a:defRPr sz="1800"/>
            </a:pPr>
            <a:r>
              <a:rPr dirty="0"/>
              <a:t>execution succeeds</a:t>
            </a:r>
          </a:p>
          <a:p>
            <a:pPr lvl="1">
              <a:defRPr sz="1800"/>
            </a:pPr>
            <a:r>
              <a:rPr dirty="0"/>
              <a:t>output includes `route`, `</a:t>
            </a:r>
            <a:r>
              <a:rPr dirty="0" err="1"/>
              <a:t>route_score</a:t>
            </a:r>
            <a:r>
              <a:rPr dirty="0"/>
              <a:t>`, `priority`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Activity 1 (</a:t>
            </a:r>
            <a:r>
              <a:rPr lang="en-GB" dirty="0"/>
              <a:t>suggested in </a:t>
            </a:r>
            <a:r>
              <a:rPr dirty="0"/>
              <a:t>pairs)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lang="en-GB" dirty="0"/>
              <a:t>Find the “model step”</a:t>
            </a:r>
          </a:p>
          <a:p>
            <a:pPr lvl="1">
              <a:defRPr sz="1800"/>
            </a:pPr>
            <a:r>
              <a:rPr dirty="0"/>
              <a:t>In the Step Functions execution graph, identify the step that represents “the model”</a:t>
            </a:r>
            <a:endParaRPr lang="en-GB" dirty="0"/>
          </a:p>
          <a:p>
            <a:pPr lvl="1">
              <a:defRPr sz="1800"/>
            </a:pPr>
            <a:endParaRPr lang="en-GB" dirty="0"/>
          </a:p>
          <a:p>
            <a:pPr lvl="1">
              <a:defRPr sz="1800"/>
            </a:pPr>
            <a:endParaRPr dirty="0"/>
          </a:p>
          <a:p>
            <a:pPr>
              <a:defRPr sz="1800"/>
            </a:pPr>
            <a:r>
              <a:rPr dirty="0"/>
              <a:t>In CloudWatch dashboard, find its Duration p95 chart.</a:t>
            </a:r>
            <a:endParaRPr lang="en-GB" dirty="0"/>
          </a:p>
          <a:p>
            <a:pPr>
              <a:defRPr sz="1800"/>
            </a:pPr>
            <a:endParaRPr lang="en-GB" dirty="0"/>
          </a:p>
          <a:p>
            <a:pPr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Output:</a:t>
            </a:r>
          </a:p>
          <a:p>
            <a:pPr>
              <a:defRPr sz="1800"/>
            </a:pPr>
            <a:r>
              <a:rPr dirty="0"/>
              <a:t>Each </a:t>
            </a:r>
            <a:r>
              <a:rPr lang="en-GB" dirty="0"/>
              <a:t>participant (</a:t>
            </a:r>
            <a:r>
              <a:rPr dirty="0"/>
              <a:t>pair</a:t>
            </a:r>
            <a:r>
              <a:rPr lang="en-GB" dirty="0"/>
              <a:t>)</a:t>
            </a:r>
            <a:r>
              <a:rPr dirty="0"/>
              <a:t> writes one sentence:</a:t>
            </a:r>
          </a:p>
          <a:p>
            <a:pPr lvl="1">
              <a:defRPr sz="1800"/>
            </a:pPr>
            <a:r>
              <a:rPr i="1" dirty="0"/>
              <a:t>“The model step is ___ because ___ evidence.”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Demo: hit the wall (burst)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1800"/>
            </a:pPr>
            <a:r>
              <a:rPr dirty="0"/>
              <a:t>Run:</a:t>
            </a:r>
          </a:p>
          <a:p>
            <a:pPr>
              <a:defRPr sz="1800"/>
            </a:pPr>
            <a:r>
              <a:rPr dirty="0"/>
              <a:t>`N=40 ./scripts/03_burst_load.sh`</a:t>
            </a:r>
          </a:p>
          <a:p>
            <a:pPr marL="0" indent="0">
              <a:buNone/>
              <a:defRPr sz="1800"/>
            </a:pPr>
            <a:endParaRPr lang="en-GB" dirty="0"/>
          </a:p>
          <a:p>
            <a:pPr marL="0" indent="0">
              <a:buNone/>
              <a:defRPr sz="1800"/>
            </a:pPr>
            <a:r>
              <a:rPr dirty="0"/>
              <a:t>What learners should see (within a few minutes):</a:t>
            </a:r>
          </a:p>
          <a:p>
            <a:pPr>
              <a:defRPr sz="1800"/>
            </a:pPr>
            <a:r>
              <a:rPr dirty="0"/>
              <a:t>Embed throttles rise</a:t>
            </a:r>
          </a:p>
          <a:p>
            <a:pPr>
              <a:defRPr sz="1800"/>
            </a:pPr>
            <a:r>
              <a:rPr dirty="0"/>
              <a:t>Step Functions failures rise (some executions fail)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debrief: what are we scaling?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Which step was throttled?</a:t>
            </a:r>
            <a:endParaRPr lang="en-GB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Would scaling preprocess help?</a:t>
            </a:r>
            <a:endParaRPr lang="en-GB" dirty="0"/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Would scaling postprocess help?</a:t>
            </a:r>
            <a:endParaRPr lang="en-GB" dirty="0"/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C8933-578D-7630-6E42-261A80941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E937E-A242-5E28-B2B2-C01C5DBD9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debrief: what are we scaling?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F965A-2EB0-F397-5D1B-A03BBF88C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endParaRPr lang="en-GB" dirty="0"/>
          </a:p>
          <a:p>
            <a:pPr marL="0" indent="0">
              <a:buNone/>
              <a:defRPr sz="1800"/>
            </a:pPr>
            <a:r>
              <a:rPr lang="en-GB" dirty="0"/>
              <a:t>(Answer)</a:t>
            </a:r>
          </a:p>
          <a:p>
            <a:pPr>
              <a:defRPr sz="1800"/>
            </a:pPr>
            <a:r>
              <a:rPr lang="en-GB" i="1" dirty="0"/>
              <a:t>We scale the embed/model step first, because it is the bottleneck.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716829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Lunch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During lunch:</a:t>
            </a:r>
          </a:p>
          <a:p>
            <a:pPr>
              <a:defRPr sz="1800"/>
            </a:pPr>
            <a:r>
              <a:t>Leave dashboards open.</a:t>
            </a:r>
          </a:p>
          <a:p>
            <a:pPr>
              <a:defRPr sz="1800"/>
            </a:pPr>
            <a:r>
              <a:t>After lunch, we’ll investigate a “red pipeline” like a real incident.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949</Words>
  <Application>Microsoft Office PowerPoint</Application>
  <PresentationFormat>On-screen Show (4:3)</PresentationFormat>
  <Paragraphs>134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Courier New</vt:lpstr>
      <vt:lpstr>Wingdings</vt:lpstr>
      <vt:lpstr>Office Theme</vt:lpstr>
      <vt:lpstr>AI6 Unit 5.W — Scale or Fail (Morning)</vt:lpstr>
      <vt:lpstr>The three mantras for scaling</vt:lpstr>
      <vt:lpstr>Business Scenario</vt:lpstr>
      <vt:lpstr>What model are we using?</vt:lpstr>
      <vt:lpstr>The key question</vt:lpstr>
      <vt:lpstr>The MVP we will use</vt:lpstr>
      <vt:lpstr>Architecture (simple)</vt:lpstr>
      <vt:lpstr>Observable reality</vt:lpstr>
      <vt:lpstr>Your hands-on success criteria</vt:lpstr>
      <vt:lpstr>Coach “follow-me”</vt:lpstr>
      <vt:lpstr>Coach “follow-me”</vt:lpstr>
      <vt:lpstr>Demo: run one ticket (happy path)</vt:lpstr>
      <vt:lpstr>Activity 1 (suggested in pairs)</vt:lpstr>
      <vt:lpstr>Demo: hit the wall (burst)</vt:lpstr>
      <vt:lpstr>Mini debrief: what are we scaling?</vt:lpstr>
      <vt:lpstr>Mini debrief: what are we scaling?</vt:lpstr>
      <vt:lpstr>Lunch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Mike Hoffman</cp:lastModifiedBy>
  <cp:revision>1</cp:revision>
  <dcterms:created xsi:type="dcterms:W3CDTF">2013-01-27T09:14:16Z</dcterms:created>
  <dcterms:modified xsi:type="dcterms:W3CDTF">2026-02-09T12:33:36Z</dcterms:modified>
  <cp:category/>
</cp:coreProperties>
</file>