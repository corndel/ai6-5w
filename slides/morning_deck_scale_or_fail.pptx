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Today’s workshop is one story.</a:t>
            </a:r>
          </a:p>
          <a:p>
            <a:r>
              <a:t>- You will not write code. You will run a real pipeline, break it under load, then fix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Everything we do today fits one of these sentences.</a:t>
            </a:r>
          </a:p>
          <a:p>
            <a:r>
              <a:t>- If something doesn’t fit, we ignore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is common in industry: triage, routing, embeddings.</a:t>
            </a:r>
          </a:p>
          <a:p>
            <a:r>
              <a:t>- We’re not chasing accuracy today. We’re chasing *survival under load*.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This avoids dependency/pip-install pain and keeps coaches sane.</a:t>
            </a:r>
          </a:p>
          <a:p>
            <a:r>
              <a:t>- The scaling behaviour is the same: the “model step” is heavier than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You only scale what is limiting you.</a:t>
            </a:r>
          </a:p>
          <a:p>
            <a:r>
              <a:t>- If you scale the wrong thing, nothing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No API Gateway. No databases. No queues. MVP only.</a:t>
            </a:r>
          </a:p>
          <a:p>
            <a:r>
              <a:t>- Every extra service is another way to lose 30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The middle step is designed to be the bottleneck.</a:t>
            </a:r>
          </a:p>
          <a:p>
            <a:r>
              <a:t>- This makes “what are we scaling?” obvious.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These are your production senses.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You can narrate while it deploys.</a:t>
            </a:r>
          </a:p>
          <a:p>
            <a:r>
              <a:t>- Ask learners to keep the stack name exactly as provided.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Keep this visual. Don’t explain everything, just “here’s where we look later”.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Confirm the pipeline works before we scale it.</a:t>
            </a:r>
          </a:p>
          <a:p>
            <a:r>
              <a:t>- That’s a real production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The wall is intentional.</a:t>
            </a:r>
          </a:p>
          <a:p>
            <a:r>
              <a:t>- Now we can practise the production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AI6 Unit 5.W — Scale or Fail (Morning)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Orchestrating Complex ML Pipelines in Production</a:t>
            </a:r>
          </a:p>
          <a:p>
            <a:pPr>
              <a:defRPr sz="1800"/>
            </a:pPr>
            <a:r>
              <a:t>Scale or Fail (MVP Workshop)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Spine (North Star)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Scaling is the job.</a:t>
            </a:r>
          </a:p>
          <a:p>
            <a:pPr>
              <a:defRPr sz="1800"/>
            </a:pPr>
            <a:r>
              <a:t>Orchestration is the mechanism.</a:t>
            </a:r>
          </a:p>
          <a:p>
            <a:pPr>
              <a:defRPr sz="1800"/>
            </a:pPr>
            <a:r>
              <a:t>Root Cause Analysis is the safety 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Scenario (Low stakes, real world)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“Flash Sale Friday” Support Surge</a:t>
            </a:r>
          </a:p>
          <a:p>
            <a:pPr>
              <a:defRPr sz="1800"/>
            </a:pPr>
            <a:r>
              <a:t>A subscription business gets 10× more support tickets for 30 minutes.</a:t>
            </a:r>
          </a:p>
          <a:p>
            <a:pPr>
              <a:defRPr sz="1800"/>
            </a:pPr>
            <a:r>
              <a:t>Goal:</a:t>
            </a:r>
          </a:p>
          <a:p>
            <a:pPr>
              <a:defRPr sz="1800"/>
            </a:pPr>
            <a:r>
              <a:t>Tickets are routed automatically to the right queue:</a:t>
            </a:r>
          </a:p>
          <a:p>
            <a:pPr>
              <a:defRPr sz="1800"/>
            </a:pPr>
            <a:r>
              <a:t>Billing</a:t>
            </a:r>
          </a:p>
          <a:p>
            <a:pPr>
              <a:defRPr sz="1800"/>
            </a:pPr>
            <a:r>
              <a:t>Delivery</a:t>
            </a:r>
          </a:p>
          <a:p>
            <a:pPr>
              <a:defRPr sz="1800"/>
            </a:pPr>
            <a:r>
              <a:t>Technical</a:t>
            </a:r>
          </a:p>
          <a:p>
            <a:pPr>
              <a:defRPr sz="1800"/>
            </a:pPr>
            <a:r>
              <a:t>Cancellation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model are we using?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*reference* a real industry model choice:</a:t>
            </a:r>
          </a:p>
          <a:p>
            <a:pPr>
              <a:defRPr sz="1800"/>
            </a:pPr>
            <a:r>
              <a:t>`sentence-transformers/all-MiniLM-L6-v2`</a:t>
            </a:r>
          </a:p>
          <a:p>
            <a:pPr>
              <a:defRPr sz="1800"/>
            </a:pPr>
            <a:r>
              <a:t>In this workshop we use a safe, deterministic simulation that produces:</a:t>
            </a:r>
          </a:p>
          <a:p>
            <a:pPr>
              <a:defRPr sz="1800"/>
            </a:pPr>
            <a:r>
              <a:t>a MiniLM-style embedding shape (384 dims)</a:t>
            </a:r>
          </a:p>
          <a:p>
            <a:pPr>
              <a:defRPr sz="1800"/>
            </a:pPr>
            <a:r>
              <a:t>a route decision + confidence score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key teachable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What are we actually scaling?</a:t>
            </a:r>
          </a:p>
          <a:p>
            <a:pPr>
              <a:defRPr sz="1800"/>
            </a:pPr>
            <a:r>
              <a:t>Is the bottleneck:</a:t>
            </a:r>
          </a:p>
          <a:p>
            <a:pPr>
              <a:defRPr sz="1800"/>
            </a:pPr>
            <a:r>
              <a:t>Pre-model (validation/cleanup)?</a:t>
            </a:r>
          </a:p>
          <a:p>
            <a:pPr>
              <a:defRPr sz="1800"/>
            </a:pPr>
            <a:r>
              <a:t>The model step (embedding/inference)?</a:t>
            </a:r>
          </a:p>
          <a:p>
            <a:pPr>
              <a:defRPr sz="1800"/>
            </a:pPr>
            <a:r>
              <a:t>Post-model (routing/formatting)?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minimal system we will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intentionally use only:</a:t>
            </a:r>
          </a:p>
          <a:p>
            <a:pPr>
              <a:defRPr sz="1800"/>
            </a:pPr>
            <a:r>
              <a:t>AWS Step Functions (orchestration map)</a:t>
            </a:r>
          </a:p>
          <a:p>
            <a:pPr>
              <a:defRPr sz="1800"/>
            </a:pPr>
            <a:r>
              <a:t>3 AWS Lambda functions (pre → model → post)</a:t>
            </a:r>
          </a:p>
          <a:p>
            <a:pPr>
              <a:defRPr sz="1800"/>
            </a:pPr>
            <a:r>
              <a:t>CloudWatch dashboard + logs (observability)</a:t>
            </a:r>
          </a:p>
          <a:p>
            <a:pPr>
              <a:defRPr sz="1800"/>
            </a:pPr>
            <a:r>
              <a:t>CloudShell + CloudFormation (repeatable setup)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(simple)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Functions orchestrates:</a:t>
            </a:r>
          </a:p>
          <a:p>
            <a:pPr>
              <a:defRPr sz="1800"/>
            </a:pPr>
            <a:r>
              <a:t>1) Preprocess Lambda (fast)</a:t>
            </a:r>
          </a:p>
          <a:p>
            <a:pPr>
              <a:defRPr sz="1800"/>
            </a:pPr>
            <a:r>
              <a:t>2) Embed/“Model” Lambda (slow + throttled on purpose)</a:t>
            </a:r>
          </a:p>
          <a:p>
            <a:pPr>
              <a:defRPr sz="1800"/>
            </a:pPr>
            <a:r>
              <a:t>3) Postprocess Lambda (fast)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Observable reality (the only three graphs that matter)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When load increases, watch:</a:t>
            </a:r>
          </a:p>
          <a:p>
            <a:pPr>
              <a:defRPr sz="1800"/>
            </a:pPr>
            <a:r>
              <a:t>Latency (duration p95)</a:t>
            </a:r>
          </a:p>
          <a:p>
            <a:pPr>
              <a:defRPr sz="1800"/>
            </a:pPr>
            <a:r>
              <a:t>Errors (failed executions)</a:t>
            </a:r>
          </a:p>
          <a:p>
            <a:pPr>
              <a:defRPr sz="1800"/>
            </a:pPr>
            <a:r>
              <a:t>Throttles (requests rejected due to limits)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hands-on success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By lunch you will be able to:</a:t>
            </a:r>
          </a:p>
          <a:p>
            <a:pPr>
              <a:defRPr sz="1800"/>
            </a:pPr>
            <a:r>
              <a:t>1) Run one clean “happy path” request</a:t>
            </a:r>
          </a:p>
          <a:p>
            <a:pPr>
              <a:defRPr sz="1800"/>
            </a:pPr>
            <a:r>
              <a:t>2) Create a burst that hits a scaling wall</a:t>
            </a:r>
          </a:p>
          <a:p>
            <a:pPr>
              <a:defRPr sz="1800"/>
            </a:pPr>
            <a:r>
              <a:t>3) Point to *which* step caused the wall and prove it with evidence</a:t>
            </a:r>
          </a:p>
          <a:p>
            <a:pPr>
              <a:defRPr sz="1800"/>
            </a:pPr>
            <a:r>
              <a:t>Evidence = dashboard + execution graph + log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Coach “follow-me” setup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Open:</a:t>
            </a:r>
          </a:p>
          <a:p>
            <a:pPr>
              <a:defRPr sz="1800"/>
            </a:pPr>
            <a:r>
              <a:t>AWS Console (sandbox credentials)</a:t>
            </a:r>
          </a:p>
          <a:p>
            <a:pPr>
              <a:defRPr sz="1800"/>
            </a:pPr>
            <a:r>
              <a:t>Region: us-east-1</a:t>
            </a:r>
          </a:p>
          <a:p>
            <a:pPr>
              <a:defRPr sz="1800"/>
            </a:pPr>
            <a:r>
              <a:t>CloudShell</a:t>
            </a:r>
          </a:p>
          <a:p>
            <a:pPr>
              <a:defRPr sz="1800"/>
            </a:pPr>
            <a:r>
              <a:t>Then run:</a:t>
            </a:r>
          </a:p>
          <a:p>
            <a:pPr>
              <a:defRPr sz="1800"/>
            </a:pPr>
            <a:r>
              <a:t>`chmod +x scripts/*.sh`</a:t>
            </a:r>
          </a:p>
          <a:p>
            <a:pPr>
              <a:defRPr sz="1800"/>
            </a:pPr>
            <a:r>
              <a:t>`./scripts/00_set_region.sh`</a:t>
            </a:r>
          </a:p>
          <a:p>
            <a:pPr>
              <a:defRPr sz="1800"/>
            </a:pPr>
            <a:r>
              <a:t>`./scripts/01_deploy.sh`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Coach “follow-me” setup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Show learners where to find:</a:t>
            </a:r>
          </a:p>
          <a:p>
            <a:pPr>
              <a:defRPr sz="1800"/>
            </a:pPr>
            <a:r>
              <a:t>Step Functions → State machines → AI6-Unit5W-ScaleOrFail-state-machine</a:t>
            </a:r>
          </a:p>
          <a:p>
            <a:pPr>
              <a:defRPr sz="1800"/>
            </a:pPr>
            <a:r>
              <a:t>CloudWatch → Dashboards → AI6-Unit5W-ScaleOrFail-dashboard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run one ticket (happy path)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</a:t>
            </a:r>
          </a:p>
          <a:p>
            <a:pPr>
              <a:defRPr sz="1800"/>
            </a:pPr>
            <a:r>
              <a:t>`./scripts/02_invoke_one.sh`</a:t>
            </a:r>
          </a:p>
          <a:p>
            <a:pPr>
              <a:defRPr sz="1800"/>
            </a:pPr>
            <a:r>
              <a:t>What learners should see:</a:t>
            </a:r>
          </a:p>
          <a:p>
            <a:pPr>
              <a:defRPr sz="1800"/>
            </a:pPr>
            <a:r>
              <a:t>execution succeeds</a:t>
            </a:r>
          </a:p>
          <a:p>
            <a:pPr>
              <a:defRPr sz="1800"/>
            </a:pPr>
            <a:r>
              <a:t>output includes `route`, `route_score`, `priority`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1 (pairs): Find the “model step”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Prompt:</a:t>
            </a:r>
          </a:p>
          <a:p>
            <a:pPr>
              <a:defRPr sz="1800"/>
            </a:pPr>
            <a:r>
              <a:t>In the Step Functions execution graph, identify the step that represents “the model”.</a:t>
            </a:r>
          </a:p>
          <a:p>
            <a:pPr>
              <a:defRPr sz="1800"/>
            </a:pPr>
            <a:r>
              <a:t>In CloudWatch dashboard, find its Duration p95 chart.</a:t>
            </a:r>
          </a:p>
          <a:p>
            <a:pPr>
              <a:defRPr sz="1800"/>
            </a:pPr>
            <a:r>
              <a:t>Output:</a:t>
            </a:r>
          </a:p>
          <a:p>
            <a:pPr>
              <a:defRPr sz="1800"/>
            </a:pPr>
            <a:r>
              <a:t>Each pair writes one sentence:</a:t>
            </a:r>
          </a:p>
          <a:p>
            <a:pPr>
              <a:defRPr sz="1800"/>
            </a:pPr>
            <a:r>
              <a:t>“The model step is ___ because ___ evidence.”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hit the wall (burst)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Run:</a:t>
            </a:r>
          </a:p>
          <a:p>
            <a:pPr>
              <a:defRPr sz="1800"/>
            </a:pPr>
            <a:r>
              <a:t>`N=40 ./scripts/03_burst_load.sh`</a:t>
            </a:r>
          </a:p>
          <a:p>
            <a:pPr>
              <a:defRPr sz="1800"/>
            </a:pPr>
            <a:r>
              <a:t>What learners should see (within a few minutes):</a:t>
            </a:r>
          </a:p>
          <a:p>
            <a:pPr>
              <a:defRPr sz="1800"/>
            </a:pPr>
            <a:r>
              <a:t>Embed throttles rise</a:t>
            </a:r>
          </a:p>
          <a:p>
            <a:pPr>
              <a:defRPr sz="1800"/>
            </a:pPr>
            <a:r>
              <a:t>Step Functions failures rise (some executions fail)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Mini debrief: what are we scaling?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Ask:</a:t>
            </a:r>
          </a:p>
          <a:p>
            <a:pPr>
              <a:defRPr sz="1800"/>
            </a:pPr>
            <a:r>
              <a:t>Which step was throttled?</a:t>
            </a:r>
          </a:p>
          <a:p>
            <a:pPr>
              <a:defRPr sz="1800"/>
            </a:pPr>
            <a:r>
              <a:t>Would scaling preprocess help?</a:t>
            </a:r>
          </a:p>
          <a:p>
            <a:pPr>
              <a:defRPr sz="1800"/>
            </a:pPr>
            <a:r>
              <a:t>Would scaling postprocess help?</a:t>
            </a:r>
          </a:p>
          <a:p>
            <a:pPr>
              <a:defRPr sz="1800"/>
            </a:pPr>
            <a:r>
              <a:t>Answer you want:</a:t>
            </a:r>
          </a:p>
          <a:p>
            <a:pPr>
              <a:defRPr sz="1800"/>
            </a:pPr>
            <a:r>
              <a:t>We scale the embed/model step first, because it is the bottleneck.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Lunch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During lunch:</a:t>
            </a:r>
          </a:p>
          <a:p>
            <a:pPr>
              <a:defRPr sz="1800"/>
            </a:pPr>
            <a:r>
              <a:t>Leave dashboards open.</a:t>
            </a:r>
          </a:p>
          <a:p>
            <a:pPr>
              <a:defRPr sz="1800"/>
            </a:pPr>
            <a:r>
              <a:t>After lunch, we’ll investigate a “red pipeline” like a real incident.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